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5443356848f452d" /><Relationship Type="http://schemas.openxmlformats.org/officeDocument/2006/relationships/extended-properties" Target="/docProps/app.xml" Id="Raa807d26af6e407f" /><Relationship Type="http://schemas.openxmlformats.org/officeDocument/2006/relationships/officeDocument" Target="/ppt/presentation.xml" Id="Ra7c6bddcd8894b03" /></Relationships>
</file>

<file path=ppt/presentation.xml><?xml version="1.0" encoding="utf-8"?>
<p:presentation xmlns:p="http://schemas.openxmlformats.org/presentationml/2006/main">
  <p:sldMasterIdLst>
    <p:sldMasterId xmlns:r="http://schemas.openxmlformats.org/officeDocument/2006/relationships" id="2147483648" r:id="Rfa720059626a45af"/>
  </p:sldMasterIdLst>
  <p:notesMasterIdLst>
    <p:notesMasterId xmlns:r="http://schemas.openxmlformats.org/officeDocument/2006/relationships" r:id="R7661873592d14359"/>
  </p:notesMasterIdLst>
  <p:sldIdLst>
    <p:sldId xmlns:r="http://schemas.openxmlformats.org/officeDocument/2006/relationships" id="256" r:id="R18d70f8f33cd4590"/>
    <p:sldId xmlns:r="http://schemas.openxmlformats.org/officeDocument/2006/relationships" id="257" r:id="R16580c3f8af34b64"/>
    <p:sldId xmlns:r="http://schemas.openxmlformats.org/officeDocument/2006/relationships" id="258" r:id="Rb393c784e1914e6b"/>
    <p:sldId xmlns:r="http://schemas.openxmlformats.org/officeDocument/2006/relationships" id="259" r:id="R7d3088c617c643ca"/>
    <p:sldId xmlns:r="http://schemas.openxmlformats.org/officeDocument/2006/relationships" id="260" r:id="Rf3187b0170d04559"/>
    <p:sldId xmlns:r="http://schemas.openxmlformats.org/officeDocument/2006/relationships" id="261" r:id="R603ecaeee2e94970"/>
    <p:sldId xmlns:r="http://schemas.openxmlformats.org/officeDocument/2006/relationships" id="262" r:id="R6023e767d2ab48f8"/>
    <p:sldId xmlns:r="http://schemas.openxmlformats.org/officeDocument/2006/relationships" id="263" r:id="Re5c77e3148e64fa5"/>
    <p:sldId xmlns:r="http://schemas.openxmlformats.org/officeDocument/2006/relationships" id="264" r:id="Rc06b1a2bc1534548"/>
    <p:sldId xmlns:r="http://schemas.openxmlformats.org/officeDocument/2006/relationships" id="265" r:id="R0e5c009999664270"/>
    <p:sldId xmlns:r="http://schemas.openxmlformats.org/officeDocument/2006/relationships" id="266" r:id="R22ec63da19d34555"/>
    <p:sldId xmlns:r="http://schemas.openxmlformats.org/officeDocument/2006/relationships" id="267" r:id="Re108b7c33b6842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e7d125a1294526" /><Relationship Type="http://schemas.openxmlformats.org/officeDocument/2006/relationships/slideMaster" Target="/ppt/slideMasters/slideMaster1.xml" Id="Rfa720059626a45af" /><Relationship Type="http://schemas.openxmlformats.org/officeDocument/2006/relationships/notesMaster" Target="/ppt/notesMasters/notesMaster1.xml" Id="R7661873592d14359" /><Relationship Type="http://schemas.openxmlformats.org/officeDocument/2006/relationships/presProps" Target="/ppt/presProps.xml" Id="Rd837307b11a34100" /><Relationship Type="http://schemas.openxmlformats.org/officeDocument/2006/relationships/tableStyles" Target="/ppt/tableStyles.xml" Id="R15296736bb064765" /><Relationship Type="http://schemas.openxmlformats.org/officeDocument/2006/relationships/slide" Target="/ppt/slides/slide1.xml" Id="R18d70f8f33cd4590" /><Relationship Type="http://schemas.openxmlformats.org/officeDocument/2006/relationships/slide" Target="/ppt/slides/slide2.xml" Id="R16580c3f8af34b64" /><Relationship Type="http://schemas.openxmlformats.org/officeDocument/2006/relationships/slide" Target="/ppt/slides/slide3.xml" Id="Rb393c784e1914e6b" /><Relationship Type="http://schemas.openxmlformats.org/officeDocument/2006/relationships/slide" Target="/ppt/slides/slide4.xml" Id="R7d3088c617c643ca" /><Relationship Type="http://schemas.openxmlformats.org/officeDocument/2006/relationships/slide" Target="/ppt/slides/slide5.xml" Id="Rf3187b0170d04559" /><Relationship Type="http://schemas.openxmlformats.org/officeDocument/2006/relationships/slide" Target="/ppt/slides/slide6.xml" Id="R603ecaeee2e94970" /><Relationship Type="http://schemas.openxmlformats.org/officeDocument/2006/relationships/slide" Target="/ppt/slides/slide7.xml" Id="R6023e767d2ab48f8" /><Relationship Type="http://schemas.openxmlformats.org/officeDocument/2006/relationships/slide" Target="/ppt/slides/slide8.xml" Id="Re5c77e3148e64fa5" /><Relationship Type="http://schemas.openxmlformats.org/officeDocument/2006/relationships/slide" Target="/ppt/slides/slide9.xml" Id="Rc06b1a2bc1534548" /><Relationship Type="http://schemas.openxmlformats.org/officeDocument/2006/relationships/slide" Target="/ppt/slides/slide10.xml" Id="R0e5c009999664270" /><Relationship Type="http://schemas.openxmlformats.org/officeDocument/2006/relationships/slide" Target="/ppt/slides/slide11.xml" Id="R22ec63da19d34555" /><Relationship Type="http://schemas.openxmlformats.org/officeDocument/2006/relationships/slide" Target="/ppt/slides/slide12.xml" Id="Re108b7c33b6842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a44ab44aea46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ce94581fa44abb" /><Relationship Type="http://schemas.openxmlformats.org/officeDocument/2006/relationships/notesMaster" Target="/ppt/notesMasters/notesMaster1.xml" Id="Ra4a39cfd93dc4c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bc5d2d291b4b64" /><Relationship Type="http://schemas.openxmlformats.org/officeDocument/2006/relationships/notesMaster" Target="/ppt/notesMasters/notesMaster1.xml" Id="R33c3c168651041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e7628a0cce4627" /><Relationship Type="http://schemas.openxmlformats.org/officeDocument/2006/relationships/notesMaster" Target="/ppt/notesMasters/notesMaster1.xml" Id="R35b81bc867bc48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b72559fa474e3f" /><Relationship Type="http://schemas.openxmlformats.org/officeDocument/2006/relationships/notesMaster" Target="/ppt/notesMasters/notesMaster1.xml" Id="R96e6a4f7a1d947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ed0796540746e2" /><Relationship Type="http://schemas.openxmlformats.org/officeDocument/2006/relationships/notesMaster" Target="/ppt/notesMasters/notesMaster1.xml" Id="Rde0dc68d07b04f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53d318a19444bf" /><Relationship Type="http://schemas.openxmlformats.org/officeDocument/2006/relationships/notesMaster" Target="/ppt/notesMasters/notesMaster1.xml" Id="R541d2303808f47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a119b027124e85" /><Relationship Type="http://schemas.openxmlformats.org/officeDocument/2006/relationships/notesMaster" Target="/ppt/notesMasters/notesMaster1.xml" Id="Rc5e44af313a645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6d51d54523467d" /><Relationship Type="http://schemas.openxmlformats.org/officeDocument/2006/relationships/notesMaster" Target="/ppt/notesMasters/notesMaster1.xml" Id="Rb7346439bebd4a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4d030644bc482c" /><Relationship Type="http://schemas.openxmlformats.org/officeDocument/2006/relationships/notesMaster" Target="/ppt/notesMasters/notesMaster1.xml" Id="R6a8c5671a2f94f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2b263b45044158" /><Relationship Type="http://schemas.openxmlformats.org/officeDocument/2006/relationships/notesMaster" Target="/ppt/notesMasters/notesMaster1.xml" Id="R56f63391adb64f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ba79d9203548a8" /><Relationship Type="http://schemas.openxmlformats.org/officeDocument/2006/relationships/notesMaster" Target="/ppt/notesMasters/notesMaster1.xml" Id="R026afe17214248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266402f4394fc8" /><Relationship Type="http://schemas.openxmlformats.org/officeDocument/2006/relationships/notesMaster" Target="/ppt/notesMasters/notesMaster1.xml" Id="Rdfffbd9ae72340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academic draft. User requested blank group, name and matriculation fields. The 1,000 TEST records have human labels and overall raw agreement of 91.13%. No written course-side approval artifact has been inspected.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retrieval_receipt: D:\coursework\AI6127\oil-evidence\data\development_runs\oil-dev50-v1\retrieval\2026-10-12T20-44-48.032312+00-00-64f7e748\result.json</a:t>
            </a:r>
          </a:p>
          <a:p xmlns:a="http://schemas.openxmlformats.org/drawingml/2006/main">
            <a:r>
              <a:t>SHA256: 6f90350dded13d4be58236cca2c9a3c1e420a26b632c1a930cad595865d70f15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corpus_report: D:\coursework\AI6127\oil-evidence\data\unified_runs\semantic-page-v2-buffer\stage\reports\corpus.json</a:t>
            </a:r>
          </a:p>
          <a:p xmlns:a="http://schemas.openxmlformats.org/drawingml/2006/main">
            <a:r>
              <a:t>SHA256: 830c02c829ff582986ac0f6de1ed3a20d717af049c8455873977dc34e1a840bf</a:t>
            </a:r>
          </a:p>
          <a:p xmlns:a="http://schemas.openxmlformats.org/drawingml/2006/main">
            <a:r>
              <a:t/>
            </a:r>
          </a:p>
          <a:p xmlns:a="http://schemas.openxmlformats.org/drawingml/2006/main">
            <a:r>
              <a:t>quality_report: D:\coursework\AI6127\oil-evidence\data\unified_runs\semantic-page-v2-buffer\stage\reports\unified_quality.json</a:t>
            </a:r>
          </a:p>
          <a:p xmlns:a="http://schemas.openxmlformats.org/drawingml/2006/main">
            <a:r>
              <a:t>SHA256: ab8d1633c3101e694876d09bfa1cef09345b85977d0a4437281094fd469f34ff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corpus_report: D:\coursework\AI6127\oil-evidence\data\unified_runs\semantic-page-v2-buffer\stage\reports\corpus.json</a:t>
            </a:r>
          </a:p>
          <a:p xmlns:a="http://schemas.openxmlformats.org/drawingml/2006/main">
            <a:r>
              <a:t>SHA256: 830c02c829ff582986ac0f6de1ed3a20d717af049c8455873977dc34e1a840bf</a:t>
            </a:r>
          </a:p>
          <a:p xmlns:a="http://schemas.openxmlformats.org/drawingml/2006/main">
            <a:r>
              <a:t/>
            </a:r>
          </a:p>
          <a:p xmlns:a="http://schemas.openxmlformats.org/drawingml/2006/main">
            <a:r>
              <a:t>quality_report: D:\coursework\AI6127\oil-evidence\data\unified_runs\semantic-page-v2-buffer\stage\reports\unified_quality.json</a:t>
            </a:r>
          </a:p>
          <a:p xmlns:a="http://schemas.openxmlformats.org/drawingml/2006/main">
            <a:r>
              <a:t>SHA256: ab8d1633c3101e694876d09bfa1cef09345b85977d0a4437281094fd469f34ff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retrieval_receipt: D:\coursework\AI6127\oil-evidence\data\development_runs\oil-dev50-v1\retrieval\2026-10-12T20-44-48.032312+00-00-64f7e748\result.json</a:t>
            </a:r>
          </a:p>
          <a:p xmlns:a="http://schemas.openxmlformats.org/drawingml/2006/main">
            <a:r>
              <a:t>SHA256: 6f90350dded13d4be58236cca2c9a3c1e420a26b632c1a930cad595865d70f15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retrieval_receipt: D:\coursework\AI6127\oil-evidence\data\development_runs\oil-dev50-v1\retrieval\2026-10-12T20-44-48.032312+00-00-64f7e748\result.json</a:t>
            </a:r>
          </a:p>
          <a:p xmlns:a="http://schemas.openxmlformats.org/drawingml/2006/main">
            <a:r>
              <a:t>SHA256: 6f90350dded13d4be58236cca2c9a3c1e420a26b632c1a930cad595865d70f15</a:t>
            </a:r>
          </a:p>
          <a:p xmlns:a="http://schemas.openxmlformats.org/drawingml/2006/main">
            <a:r>
              <a:t/>
            </a:r>
          </a:p>
          <a:p xmlns:a="http://schemas.openxmlformats.org/drawingml/2006/main">
            <a:r>
              <a:t>corpus_report: D:\coursework\AI6127\oil-evidence\data\unified_runs\semantic-page-v2-buffer\stage\reports\corpus.json</a:t>
            </a:r>
          </a:p>
          <a:p xmlns:a="http://schemas.openxmlformats.org/drawingml/2006/main">
            <a:r>
              <a:t>SHA256: 830c02c829ff582986ac0f6de1ed3a20d717af049c8455873977dc34e1a840bf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inter-annotator agreement for 1,000 TEST records. Overall raw agreement: 91.13% (underlying value 0.9113). Per-field agreement, Cohen kappa and weighted kappa are not reported. The earlier broader-cohort table is excluded. See results/human_agreement.json and data/ANNOTATION_PROVENANCE.json. Human agreement is distinct from automatic answer-quality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formal_retrieval: D:\coursework\AI6127\oil-evidence\data\machine_runs\formal-experiments\2026-10-14T05-29-35.082875+00-00-406a2e1b\retrieval_evaluation.json</a:t>
            </a:r>
          </a:p>
          <a:p xmlns:a="http://schemas.openxmlformats.org/drawingml/2006/main">
            <a:r>
              <a:t>SHA256: 2fb827de689de84adca0e6d518a05d93d063c3fd288932f9a4c3454b19acf2c9</a:t>
            </a:r>
          </a:p>
          <a:p xmlns:a="http://schemas.openxmlformats.org/drawingml/2006/main">
            <a:r>
              <a:t/>
            </a:r>
          </a:p>
          <a:p xmlns:a="http://schemas.openxmlformats.org/drawingml/2006/main">
            <a:r>
              <a:t>formal_manifest: D:\coursework\AI6127\oil-evidence\data\machine_runs\frozen_evaluation\385086dac68d5dc69dd408a6\manifest.json</a:t>
            </a:r>
          </a:p>
          <a:p xmlns:a="http://schemas.openxmlformats.org/drawingml/2006/main">
            <a:r>
              <a:t>SHA256: 704c2c291cf97fa543f12da78baa552afbb32f415907c527821f454ab980797c</a:t>
            </a:r>
          </a:p>
          <a:p xmlns:a="http://schemas.openxmlformats.org/drawingml/2006/main">
            <a:r>
              <a:t>Six conditions evaluate the same1,000 TEST questions. Chart values round actual nDCG to three decimals. Original full-precision results remain unchanged. Precision/MRR use1,000 queries; recall/nDCG use998 positive pools. Grades1 and2 count as relevant; DCG gain is2^grade minus1. This slide does not report individual retrieval latency.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workbench_receipt: D:\coursework\AI6127\oil-evidence\data\machine_runs\workbench_queries\2026-10-13T01-05-21.647873+00-00-56c414dd\ui-check.json</a:t>
            </a:r>
          </a:p>
          <a:p xmlns:a="http://schemas.openxmlformats.org/drawingml/2006/main">
            <a:r>
              <a:t>SHA256: c9df37ec5f37683cdb2a9fe4790ed5e7fe3a42bc8aea046047a8bb665f488f9a</a:t>
            </a:r>
          </a:p>
          <a:p xmlns:a="http://schemas.openxmlformats.org/drawingml/2006/main">
            <a:r>
              <a:t/>
            </a:r>
          </a:p>
          <a:p xmlns:a="http://schemas.openxmlformats.org/drawingml/2006/main">
            <a:r>
              <a:t>workbench_result: D:\coursework\AI6127\oil-evidence\data\machine_runs\workbench_queries\2026-10-13T01-05-21.647873+00-00-56c414dd\result.json</a:t>
            </a:r>
          </a:p>
          <a:p xmlns:a="http://schemas.openxmlformats.org/drawingml/2006/main">
            <a:r>
              <a:t>SHA256: fae952014496c4c2b5cd02aa3dc74ce069635e8e1985d29b76f5a2bfffa23f26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formal_answer_result: D:\coursework\AI6127\oil-evidence\data\machine_runs\formal-experiments\2026-10-14T05-29-35.082875+00-00-406a2e1b\result.json</a:t>
            </a:r>
          </a:p>
          <a:p xmlns:a="http://schemas.openxmlformats.org/drawingml/2006/main">
            <a:r>
              <a:t>SHA256: 778b77441332739930af71fa75bb1e4929b36a3993be0cdd8498c09214d45929</a:t>
            </a:r>
          </a:p>
          <a:p xmlns:a="http://schemas.openxmlformats.org/drawingml/2006/main">
            <a:r>
              <a:t/>
            </a:r>
          </a:p>
          <a:p xmlns:a="http://schemas.openxmlformats.org/drawingml/2006/main">
            <a:r>
              <a:t>answer_sample_plan: D:\coursework\AI6127\oil-evidence\data\machine_runs\answer-samples\2026-10-13T03-10-54.055066+00-00-94340f33\sample_plan.json</a:t>
            </a:r>
          </a:p>
          <a:p xmlns:a="http://schemas.openxmlformats.org/drawingml/2006/main">
            <a:r>
              <a:t>SHA256: 079d484d1100f4a62dd9c687f1a0d575bd92bcc87694c58970ab3de84d1f4baf</a:t>
            </a:r>
          </a:p>
          <a:p xmlns:a="http://schemas.openxmlformats.org/drawingml/2006/main">
            <a:r>
              <a:t/>
            </a:r>
          </a:p>
          <a:p xmlns:a="http://schemas.openxmlformats.org/drawingml/2006/main">
            <a:r>
              <a:t>formal_manifest: D:\coursework\AI6127\oil-evidence\data\machine_runs\frozen_evaluation\385086dac68d5dc69dd408a6\manifest.json</a:t>
            </a:r>
          </a:p>
          <a:p xmlns:a="http://schemas.openxmlformats.org/drawingml/2006/main">
            <a:r>
              <a:t>SHA256: 704c2c291cf97fa543f12da78baa552afbb32f415907c527821f454ab980797c</a:t>
            </a:r>
          </a:p>
          <a:p xmlns:a="http://schemas.openxmlformats.org/drawingml/2006/main">
            <a:r>
              <a:t/>
            </a:r>
          </a:p>
          <a:p xmlns:a="http://schemas.openxmlformats.org/drawingml/2006/main">
            <a:r>
              <a:t>ablation_result: D:\coursework\AI6127\oil-evidence\data\machine_runs\ablations\2026-10-13T01-38-07.663209+00-00-94744afd\result.json</a:t>
            </a:r>
          </a:p>
          <a:p xmlns:a="http://schemas.openxmlformats.org/drawingml/2006/main">
            <a:r>
              <a:t>SHA256: cecca5dd3cce5be5725bac3055563e257594094ae0de8886bd72cde3c76220c5</a:t>
            </a:r>
          </a:p>
          <a:p xmlns:a="http://schemas.openxmlformats.org/drawingml/2006/main">
            <a:r>
              <a:t>Correctness averages the automatic ordinal score divided by two. Claim support and citation support pool emitted claims and claim-citation pairs, respectively. Their denominators differ across retrieval variants; B removes zero claims in this experiment. Undefined metrics remain undefined. Future hits count retrieved evidence, not erroneous answer claims. All variants share the pre-label TEST sample. Base/B and A/AB answers and evidence are each identical on all 100 questions. The 0.005 base/B correctness difference and 0.005 A/AB relevance difference are independent judge variability, not changed answers. A minus base paired correctness mean is 0.020, unadjusted percentile 95% bootstrap interval [0.005, 0.040], 100 queries, 2000 resamples, seed 6127. Human reference labels and automatic judges can both contain errors; automatic judge calibration is unmeasured. bm25: claim judgments=163, citation judgments=165, claims removed=0, ineligible citations=0.</a:t>
            </a:r>
          </a:p>
          <a:p xmlns:a="http://schemas.openxmlformats.org/drawingml/2006/main">
            <a:r>
              <a:t>dense: claim judgments=153, citation judgments=155, claims removed=0, ineligible citations=0.</a:t>
            </a:r>
          </a:p>
          <a:p xmlns:a="http://schemas.openxmlformats.org/drawingml/2006/main">
            <a:r>
              <a:t>hybrid_base: claim judgments=171, citation judgments=172, claims removed=0, ineligible citations=0.</a:t>
            </a:r>
          </a:p>
          <a:p xmlns:a="http://schemas.openxmlformats.org/drawingml/2006/main">
            <a:r>
              <a:t>hybrid_A: claim judgments=186, citation judgments=189, claims removed=0, ineligible citations=0.</a:t>
            </a:r>
          </a:p>
          <a:p xmlns:a="http://schemas.openxmlformats.org/drawingml/2006/main">
            <a:r>
              <a:t>hybrid_B: claim judgments=171, citation judgments=172, claims removed=0, ineligible citations=0.</a:t>
            </a:r>
          </a:p>
          <a:p xmlns:a="http://schemas.openxmlformats.org/drawingml/2006/main">
            <a:r>
              <a:t>hybrid_AB: claim judgments=186, citation judgments=189, claims removed=0, ineligible citations=0.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formal_answer_result: D:\coursework\AI6127\oil-evidence\data\machine_runs\formal-experiments\2026-10-14T05-29-35.082875+00-00-406a2e1b\result.json</a:t>
            </a:r>
          </a:p>
          <a:p xmlns:a="http://schemas.openxmlformats.org/drawingml/2006/main">
            <a:r>
              <a:t>SHA256: 778b77441332739930af71fa75bb1e4929b36a3993be0cdd8498c09214d45929</a:t>
            </a:r>
          </a:p>
          <a:p xmlns:a="http://schemas.openxmlformats.org/drawingml/2006/main">
            <a:r>
              <a:t/>
            </a:r>
          </a:p>
          <a:p xmlns:a="http://schemas.openxmlformats.org/drawingml/2006/main">
            <a:r>
              <a:t>ablation_result: D:\coursework\AI6127\oil-evidence\data\machine_runs\ablations\2026-10-13T01-38-07.663209+00-00-94744afd\result.json</a:t>
            </a:r>
          </a:p>
          <a:p xmlns:a="http://schemas.openxmlformats.org/drawingml/2006/main">
            <a:r>
              <a:t>SHA256: cecca5dd3cce5be5725bac3055563e257594094ae0de8886bd72cde3c76220c5</a:t>
            </a:r>
          </a:p>
          <a:p xmlns:a="http://schemas.openxmlformats.org/drawingml/2006/main">
            <a:r>
              <a:t/>
            </a:r>
          </a:p>
          <a:p xmlns:a="http://schemas.openxmlformats.org/drawingml/2006/main">
            <a:r>
              <a:t>workbench_result: D:\coursework\AI6127\oil-evidence\data\machine_runs\workbench_queries\2026-10-13T01-05-21.647873+00-00-56c414dd\result.json</a:t>
            </a:r>
          </a:p>
          <a:p xmlns:a="http://schemas.openxmlformats.org/drawingml/2006/main">
            <a:r>
              <a:t>SHA256: fae952014496c4c2b5cd02aa3dc74ce069635e8e1985d29b76f5a2bfffa23f26</a:t>
            </a:r>
          </a:p>
          <a:p xmlns:a="http://schemas.openxmlformats.org/drawingml/2006/main">
            <a:r>
              <a:t/>
            </a:r>
          </a:p>
          <a:p xmlns:a="http://schemas.openxmlformats.org/drawingml/2006/main">
            <a:r>
              <a:t>agreement_receipt: D:\coursework\AI6127\oil-evidence\data\development_runs\oil-dev50-v1\retrieval\2026-10-12T20-44-48.032312+00-00-64f7e748\adjudication_inputs\part-001-050-67398c0a\raw_machine_agreement.json</a:t>
            </a:r>
          </a:p>
          <a:p xmlns:a="http://schemas.openxmlformats.org/drawingml/2006/main">
            <a:r>
              <a:t>SHA256: 8fefcf238ab66f248f59c876c17b2a2c20c243410f15ec12c527011931f219a5</a:t>
            </a:r>
          </a:p>
          <a:p xmlns:a="http://schemas.openxmlformats.org/drawingml/2006/main">
            <a:r>
              <a:t>Actual formal examples, not new human labels: test-e06e3f3ad4926ea21b67: source enumerates HGLs (such as propane), distillate fuel and motor gasoline; all variants and the reference label flatten that category boundary. Source: https://www.eia.gov/todayinenergy/detail.php?id=35352. test-39e8b02405743a13a4d9: eligible 2020-03-02 evidence has seven observed 2019 starts and nine forecast 2020 starts; top-five results miss it, including A/AB. Source: https://www.eia.gov/todayinenergy/detail.php?id=43015. test-d66b6c3d85efab2888d8: dense misses the April original while finding a December republication. Eligible originals: https://www.eia.gov/todayinenergy/detail.php?id=43455 and https://www.eia.gov/todayinenergy/detail.php?id=43375. Product supplied is a proxy, not instant end-use consumption. Frozen references and scores remain unchanged. These report-only source comparisons do not establish human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agreement_receipt: D:\coursework\AI6127\oil-evidence\data\development_runs\oil-dev50-v1\retrieval\2026-10-12T20-44-48.032312+00-00-64f7e748\adjudication_inputs\part-001-050-67398c0a\raw_machine_agreement.json</a:t>
            </a:r>
          </a:p>
          <a:p xmlns:a="http://schemas.openxmlformats.org/drawingml/2006/main">
            <a:r>
              <a:t>SHA256: 8fefcf238ab66f248f59c876c17b2a2c20c243410f15ec12c527011931f219a5</a:t>
            </a:r>
          </a:p>
          <a:p xmlns:a="http://schemas.openxmlformats.org/drawingml/2006/main">
            <a:r>
              <a:t/>
            </a:r>
          </a:p>
          <a:p xmlns:a="http://schemas.openxmlformats.org/drawingml/2006/main">
            <a:r>
              <a:t>retrieval_metrics: D:\coursework\AI6127\oil-evidence\data\machine_runs\frozen_development\97dc75c680bee7fb2c3a9702\retrieval-metrics-at10.json</a:t>
            </a:r>
          </a:p>
          <a:p xmlns:a="http://schemas.openxmlformats.org/drawingml/2006/main">
            <a:r>
              <a:t>SHA256: 2440d7260756bd885cd35378b3fa327abdaa7f418bebc50b51962b1eda9f35d3</a:t>
            </a:r>
          </a:p>
          <a:p xmlns:a="http://schemas.openxmlformats.org/drawingml/2006/main">
            <a:r>
              <a:t/>
            </a:r>
          </a:p>
          <a:p xmlns:a="http://schemas.openxmlformats.org/drawingml/2006/main">
            <a:r>
              <a:t>ablation_result: D:\coursework\AI6127\oil-evidence\data\machine_runs\ablations\2026-10-13T01-38-07.663209+00-00-94744afd\result.json</a:t>
            </a:r>
          </a:p>
          <a:p xmlns:a="http://schemas.openxmlformats.org/drawingml/2006/main">
            <a:r>
              <a:t>SHA256: cecca5dd3cce5be5725bac3055563e257594094ae0de8886bd72cde3c76220c5</a:t>
            </a:r>
          </a:p>
          <a:p xmlns:a="http://schemas.openxmlformats.org/drawingml/2006/main">
            <a:r>
              <a:t/>
            </a:r>
          </a:p>
          <a:p xmlns:a="http://schemas.openxmlformats.org/drawingml/2006/main">
            <a:r>
              <a:t>answer_sample_plan: D:\coursework\AI6127\oil-evidence\data\machine_runs\answer-samples\2026-10-13T03-10-54.055066+00-00-94340f33\sample_plan.json</a:t>
            </a:r>
          </a:p>
          <a:p xmlns:a="http://schemas.openxmlformats.org/drawingml/2006/main">
            <a:r>
              <a:t>SHA256: 079d484d1100f4a62dd9c687f1a0d575bd92bcc87694c58970ab3de84d1f4baf</a:t>
            </a:r>
          </a:p>
          <a:p xmlns:a="http://schemas.openxmlformats.org/drawingml/2006/main">
            <a:r>
              <a:t/>
            </a:r>
          </a:p>
          <a:p xmlns:a="http://schemas.openxmlformats.org/drawingml/2006/main">
            <a:r>
              <a:t>formal_retrieval: D:\coursework\AI6127\oil-evidence\data\machine_runs\formal-experiments\2026-10-14T05-29-35.082875+00-00-406a2e1b\retrieval_evaluation.json</a:t>
            </a:r>
          </a:p>
          <a:p xmlns:a="http://schemas.openxmlformats.org/drawingml/2006/main">
            <a:r>
              <a:t>SHA256: 2fb827de689de84adca0e6d518a05d93d063c3fd288932f9a4c3454b19acf2c9</a:t>
            </a:r>
          </a:p>
          <a:p xmlns:a="http://schemas.openxmlformats.org/drawingml/2006/main">
            <a:r>
              <a:t/>
            </a:r>
          </a:p>
          <a:p xmlns:a="http://schemas.openxmlformats.org/drawingml/2006/main">
            <a:r>
              <a:t>formal_manifest: D:\coursework\AI6127\oil-evidence\data\machine_runs\frozen_evaluation\385086dac68d5dc69dd408a6\manifest.json</a:t>
            </a:r>
          </a:p>
          <a:p xmlns:a="http://schemas.openxmlformats.org/drawingml/2006/main">
            <a:r>
              <a:t>SHA256: 704c2c291cf97fa543f12da78baa552afbb32f415907c527821f454ab980797c</a:t>
            </a:r>
          </a:p>
          <a:p xmlns:a="http://schemas.openxmlformats.org/drawingml/2006/main">
            <a:r>
              <a:t/>
            </a:r>
          </a:p>
          <a:p xmlns:a="http://schemas.openxmlformats.org/drawingml/2006/main">
            <a:r>
              <a:t>formal_credit_stop: D:\coursework\AI6127\oil-evidence\data\machine_runs\engineering-checkpoints\2026-10-14-formal-credit-stop\checkpoint.json</a:t>
            </a:r>
          </a:p>
          <a:p xmlns:a="http://schemas.openxmlformats.org/drawingml/2006/main">
            <a:r>
              <a:t>SHA256: 87c460828978ae46c6eca6e8aa44ba910bc3b02d357b099935948384c00650bd</a:t>
            </a:r>
          </a:p>
          <a:p xmlns:a="http://schemas.openxmlformats.org/drawingml/2006/main">
            <a:r>
              <a:t/>
            </a:r>
          </a:p>
          <a:p xmlns:a="http://schemas.openxmlformats.org/drawingml/2006/main">
            <a:r>
              <a:t>formal_answer_result: D:\coursework\AI6127\oil-evidence\data\machine_runs\formal-experiments\2026-10-14T05-29-35.082875+00-00-406a2e1b\result.json</a:t>
            </a:r>
          </a:p>
          <a:p xmlns:a="http://schemas.openxmlformats.org/drawingml/2006/main">
            <a:r>
              <a:t>SHA256: 778b77441332739930af71fa75bb1e4929b36a3993be0cdd8498c09214d45929</a:t>
            </a:r>
          </a:p>
          <a:p xmlns:a="http://schemas.openxmlformats.org/drawingml/2006/main">
            <a:r>
              <a:t/>
            </a:r>
          </a:p>
          <a:p xmlns:a="http://schemas.openxmlformats.org/drawingml/2006/main">
            <a:r>
              <a:t>formal_cli_rollover_policy: D:\coursework\AI6127\oil-evidence\data\machine_runs\formal-experiments\2026-10-14T05-29-35.082875+00-00-406a2e1b\cli_rollover\policy.json</a:t>
            </a:r>
          </a:p>
          <a:p xmlns:a="http://schemas.openxmlformats.org/drawingml/2006/main">
            <a:r>
              <a:t>SHA256: 7edd4291f9419f37f9d495e1ff1b653a2c15e4122bdba13bcab7a6b98f96b96d</a:t>
            </a:r>
          </a:p>
          <a:p xmlns:a="http://schemas.openxmlformats.org/drawingml/2006/main">
            <a:r>
              <a:t>Approval source: direct user statement in the task, not an independently inspected course document. The 1,000 TEST records have human labels and overall raw agreement of 91.13%. Group, name and matriculation fields remain blank for the final cover. Human inter-annotator agreement is not accuracy, and the development pilot is not a formal held-out result. The answer_sample_plan source above fixes the original 1,000-question TEST population and the 100-question draw before any TEST annotation or scoring. All 1,000 TEST labels must pass formal preflight. Only the predetermined 100 questions enter answer generation and judging, with 600 planned variant results. No formal result or measured gain follows from the sampling plan alone.</a:t>
            </a:r>
          </a:p>
          <a:p xmlns:a="http://schemas.openxmlformats.org/drawingml/2006/main">
            <a:r>
              <a:t>The bound final result confirms 600 completed answer variants. The earlier credit-stop checkpoint remains historical failure evidence and does not describe current coverage. No measured gain or human accuracy claim follows solely from completion.</a:t>
            </a:r>
          </a:p>
          <a:p xmlns:a="http://schemas.openxmlformats.org/drawingml/2006/main">
            <a:r>
              <a:t>The user directly approved preserving existing results and recording both native CLI executable lineages after an app update. The sealed accounting policy SHA256 is 7edd4291f9419f37f9d495e1ff1b653a2c15e4122bdba13bcab7a6b98f96b96d. The historical executable SHA256 is d13914ced6c7af174d8d638db938284231227312104b06a25e9608c632a7daec. The continuation executable SHA256 is e98c516f1c8935789aabe9122ee7e05ec4c3efd1ba6acf179242e031c495b99e. Both report codex-cli 0.162.0-alpha.17.2. The requested model remains null and physical model identity remains unknown. The private driver retains four historical completed-503 transport predicates and adds one explicit two-binary accounting predicate. The known-model guard and original stage, input and metric checks remain in place. Original source files and operational receipts remain unchanged. The historical 503 policy excludes the new executable. Separate executable lineages establish no model diversity or human accuracy. Policy approval establishes neither completed answer coverage nor calibrated answer quality. The final result validator remains mandatory for complete answer figures. Human reference labels and automatic judges may contain errors. Automatic judge calibration and source/model redistribution rights remain separate limitations. The original credit-stop record remains historical evidence rather than a statement of current answer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66bdb0eb3e4b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8167c6ce9b4c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c92854c2034b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4ab229e18c4e7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b30368cf4249d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457b4c952b48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F53EE5-8870-45E1-8568-7A8E4DA840E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D11391-52DC-4251-8EBD-CD7264C5D6D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381E043-311C-4962-9150-D357115A472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7A2B45-492A-45CB-AD79-A803D1556F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75810C9-9501-499E-8C4A-3D80D0ED801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B6C45E9-E0EB-4166-BDF0-6FA3717BFF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85A9046-156C-44E8-8BA7-9F9BEF545D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39A6E4C-B7FE-484A-8F37-D3DC38DF0C2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F552A2-BD90-4A60-BF52-5ABDCD27AB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22B273-6366-4479-93BA-D217D16354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4e8cd76def4f51" /><Relationship Type="http://schemas.openxmlformats.org/officeDocument/2006/relationships/slideLayout" Target="/ppt/slideLayouts/slideLayout1.xml" Id="R66e210c6d383473a" /><Relationship Type="http://schemas.openxmlformats.org/officeDocument/2006/relationships/slideLayout" Target="/ppt/slideLayouts/slideLayout2.xml" Id="Rf0a44c8f3c1b4074" /><Relationship Type="http://schemas.openxmlformats.org/officeDocument/2006/relationships/slideLayout" Target="/ppt/slideLayouts/slideLayout3.xml" Id="Raafe1b58012f44bd" /><Relationship Type="http://schemas.openxmlformats.org/officeDocument/2006/relationships/slideLayout" Target="/ppt/slideLayouts/slideLayout4.xml" Id="R88df349ea5c14e0c" /><Relationship Type="http://schemas.openxmlformats.org/officeDocument/2006/relationships/slideLayout" Target="/ppt/slideLayouts/slideLayout5.xml" Id="Re31cb0cf589d4e22" /><Relationship Type="http://schemas.openxmlformats.org/officeDocument/2006/relationships/slideLayout" Target="/ppt/slideLayouts/slideLayout6.xml" Id="Rb89b73dc3b4942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e210c6d383473a"/>
    <p:sldLayoutId xmlns:r="http://schemas.openxmlformats.org/officeDocument/2006/relationships" id="2147483650" r:id="Rf0a44c8f3c1b4074"/>
    <p:sldLayoutId xmlns:r="http://schemas.openxmlformats.org/officeDocument/2006/relationships" id="2147483651" r:id="Raafe1b58012f44bd"/>
    <p:sldLayoutId xmlns:r="http://schemas.openxmlformats.org/officeDocument/2006/relationships" id="2147483652" r:id="R88df349ea5c14e0c"/>
    <p:sldLayoutId xmlns:r="http://schemas.openxmlformats.org/officeDocument/2006/relationships" id="2147483653" r:id="Re31cb0cf589d4e22"/>
    <p:sldLayoutId xmlns:r="http://schemas.openxmlformats.org/officeDocument/2006/relationships" id="2147483654" r:id="Rb89b73dc3b4942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f96e9777df842c5" /><Relationship Type="http://schemas.openxmlformats.org/officeDocument/2006/relationships/notesSlide" Target="/ppt/notesSlides/notesSlide1.xml" Id="Refd7cd8e7d6942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1eb1143707b4063" /><Relationship Type="http://schemas.openxmlformats.org/officeDocument/2006/relationships/notesSlide" Target="/ppt/notesSlides/notesSlide2.xml" Id="R1f12caea2b7544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98026486e984f5a" /><Relationship Type="http://schemas.openxmlformats.org/officeDocument/2006/relationships/notesSlide" Target="/ppt/notesSlides/notesSlide3.xml" Id="Rb2229cd8ea3848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f0a151cd4714700" /><Relationship Type="http://schemas.openxmlformats.org/officeDocument/2006/relationships/notesSlide" Target="/ppt/notesSlides/notesSlide4.xml" Id="R4a58373f5a4141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cae048a621a43e4" /><Relationship Type="http://schemas.openxmlformats.org/officeDocument/2006/relationships/notesSlide" Target="/ppt/notesSlides/notesSlide5.xml" Id="R01b15fbfd07040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19ec7b119b24bbc" /><Relationship Type="http://schemas.openxmlformats.org/officeDocument/2006/relationships/notesSlide" Target="/ppt/notesSlides/notesSlide6.xml" Id="Rba7968aa957844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9133e33e07e49ab" /><Relationship Type="http://schemas.openxmlformats.org/officeDocument/2006/relationships/notesSlide" Target="/ppt/notesSlides/notesSlide7.xml" Id="Ra21a17b09f0b4d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8546a12a2b84820" /><Relationship Type="http://schemas.openxmlformats.org/officeDocument/2006/relationships/chart" Target="/ppt/slides/charts/chart1.xml" Id="R2cb38b6d47aa4d2f" /><Relationship Type="http://schemas.openxmlformats.org/officeDocument/2006/relationships/notesSlide" Target="/ppt/notesSlides/notesSlide8.xml" Id="Rd58c570f4cb248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34024565e4c4380" /><Relationship Type="http://schemas.openxmlformats.org/officeDocument/2006/relationships/notesSlide" Target="/ppt/notesSlides/notesSlide9.xml" Id="R585d01c6bcc241b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cf44ab76dfc4f35" /><Relationship Type="http://schemas.openxmlformats.org/officeDocument/2006/relationships/notesSlide" Target="/ppt/notesSlides/notesSlide10.xml" Id="R32102e6350fa4a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7e30b937cf8413a" /><Relationship Type="http://schemas.openxmlformats.org/officeDocument/2006/relationships/notesSlide" Target="/ppt/notesSlides/notesSlide11.xml" Id="R864ddcd9798b40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7c6da2070534b06" /><Relationship Type="http://schemas.openxmlformats.org/officeDocument/2006/relationships/notesSlide" Target="/ppt/notesSlides/notesSlide12.xml" Id="R31557b56c05c478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72C3B"/>
                </a:solidFill>
                <a:latin typeface="Arial"/>
                <a:ea typeface="Arial"/>
                <a:cs typeface="Arial"/>
              </a:rPr>
              <a:t>TEST nDCG@5</a:t>
            </a:r>
          </a:p>
        </c:rich>
      </c:tx>
      <c:overlay val="0"/>
      <c:txPr>
        <a:bodyPr xmlns:a="http://schemas.openxmlformats.org/drawingml/2006/main" anchorCtr="1"/>
        <a:lstStyle xmlns:a="http://schemas.openxmlformats.org/drawingml/2006/main"/>
        <a:p xmlns:a="http://schemas.openxmlformats.org/drawingml/2006/main">
          <a:pPr>
            <a:defRPr sz="1950" b="1">
              <a:solidFill>
                <a:srgbClr val="172C3B"/>
              </a:solidFill>
              <a:latin typeface="Arial"/>
              <a:ea typeface="Arial"/>
              <a:cs typeface="Arial"/>
            </a:defRPr>
          </a:pPr>
        </a:p>
      </c:txPr>
    </c:title>
    <c:plotArea>
      <c:barChart>
        <c:barDir val="col"/>
        <c:grouping val="clustered"/>
        <c:varyColors val="0"/>
        <c:ser>
          <c:idx val="0"/>
          <c:order val="0"/>
          <c:tx>
            <c:v>Cutoff off</c:v>
          </c:tx>
          <c:spPr>
            <a:solidFill xmlns:a="http://schemas.openxmlformats.org/drawingml/2006/main">
              <a:srgbClr val="184E6A"/>
            </a:solidFill>
          </c:spPr>
          <c:invertIfNegative val="0"/>
          <c:cat>
            <c:strRef>
              <c:f>'Chart Data'!$A$2:$A$4</c:f>
              <c:strCache>
                <c:ptCount val="3"/>
                <c:pt idx="0">
                  <c:v>BM25</c:v>
                </c:pt>
                <c:pt idx="1">
                  <c:v>Dense</c:v>
                </c:pt>
                <c:pt idx="2">
                  <c:v>Hybrid</c:v>
                </c:pt>
              </c:strCache>
            </c:strRef>
          </c:cat>
          <c:val>
            <c:numRef>
              <c:f>'Chart Data'!$B$2:$B$4</c:f>
              <c:numCache>
                <c:formatCode>0.0</c:formatCode>
                <c:ptCount val="3"/>
                <c:pt idx="0">
                  <c:v>0.655</c:v>
                </c:pt>
                <c:pt idx="1">
                  <c:v>0.568</c:v>
                </c:pt>
                <c:pt idx="2">
                  <c:v>0.673</c:v>
                </c:pt>
              </c:numCache>
            </c:numRef>
          </c:val>
        </c:ser>
        <c:ser>
          <c:idx val="1"/>
          <c:order val="1"/>
          <c:tx>
            <c:v>Cutoff on</c:v>
          </c:tx>
          <c:spPr>
            <a:solidFill xmlns:a="http://schemas.openxmlformats.org/drawingml/2006/main">
              <a:srgbClr val="92ACBC"/>
            </a:solidFill>
          </c:spPr>
          <c:invertIfNegative val="0"/>
          <c:cat>
            <c:strRef>
              <c:f>'Chart Data'!$C$2:$C$4</c:f>
              <c:strCache>
                <c:ptCount val="3"/>
                <c:pt idx="0">
                  <c:v>BM25</c:v>
                </c:pt>
                <c:pt idx="1">
                  <c:v>Dense</c:v>
                </c:pt>
                <c:pt idx="2">
                  <c:v>Hybrid</c:v>
                </c:pt>
              </c:strCache>
            </c:strRef>
          </c:cat>
          <c:val>
            <c:numRef>
              <c:f>'Chart Data'!$D$2:$D$4</c:f>
              <c:numCache>
                <c:formatCode>0.0</c:formatCode>
                <c:ptCount val="3"/>
                <c:pt idx="0">
                  <c:v>0.802</c:v>
                </c:pt>
                <c:pt idx="1">
                  <c:v>0.721</c:v>
                </c:pt>
                <c:pt idx="2">
                  <c:v>0.816</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CFD9DF"/>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2BDA5C-493F-45B4-B07B-DB2BAECEF196}"/>
              </a:ext>
            </a:extLst>
          </p:cNvPr>
          <p:cNvSpPr>
            <a:spLocks xmlns:a="http://schemas.openxmlformats.org/drawingml/2006/main" noGrp="1"/>
          </p:cNvSpPr>
          <p:nvPr/>
        </p:nvSpPr>
        <p:spPr>
          <a:xfrm xmlns:a="http://schemas.openxmlformats.org/drawingml/2006/main">
            <a:off x="685800" y="10477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5400" b="1">
                <a:solidFill>
                  <a:srgbClr val="172C3B"/>
                </a:solidFill>
                <a:latin typeface="Arial"/>
                <a:ea typeface="Arial"/>
                <a:cs typeface="Arial"/>
              </a:defRPr>
            </a:defPPr>
            <a:lvl1pPr>
              <a:buNone/>
              <a:defRPr sz="5400" b="1">
                <a:solidFill>
                  <a:srgbClr val="172C3B"/>
                </a:solidFill>
                <a:latin typeface="Arial"/>
                <a:ea typeface="Arial"/>
                <a:cs typeface="Arial"/>
              </a:defRPr>
            </a:lvl1pPr>
            <a:lvl2pPr>
              <a:buNone/>
              <a:defRPr sz="5400" b="1">
                <a:solidFill>
                  <a:srgbClr val="172C3B"/>
                </a:solidFill>
                <a:latin typeface="Arial"/>
                <a:ea typeface="Arial"/>
                <a:cs typeface="Arial"/>
              </a:defRPr>
            </a:lvl2pPr>
            <a:lvl3pPr>
              <a:buNone/>
              <a:defRPr sz="5400" b="1">
                <a:solidFill>
                  <a:srgbClr val="172C3B"/>
                </a:solidFill>
                <a:latin typeface="Arial"/>
                <a:ea typeface="Arial"/>
                <a:cs typeface="Arial"/>
              </a:defRPr>
            </a:lvl3pPr>
            <a:lvl4pPr>
              <a:buNone/>
              <a:defRPr sz="5400" b="1">
                <a:solidFill>
                  <a:srgbClr val="172C3B"/>
                </a:solidFill>
                <a:latin typeface="Arial"/>
                <a:ea typeface="Arial"/>
                <a:cs typeface="Arial"/>
              </a:defRPr>
            </a:lvl4pPr>
            <a:lvl5pPr>
              <a:buNone/>
              <a:defRPr sz="5400" b="1">
                <a:solidFill>
                  <a:srgbClr val="172C3B"/>
                </a:solidFill>
                <a:latin typeface="Arial"/>
                <a:ea typeface="Arial"/>
                <a:cs typeface="Arial"/>
              </a:defRPr>
            </a:lvl5pPr>
            <a:lvl6pPr>
              <a:buNone/>
              <a:defRPr sz="5400" b="1">
                <a:solidFill>
                  <a:srgbClr val="172C3B"/>
                </a:solidFill>
                <a:latin typeface="Arial"/>
                <a:ea typeface="Arial"/>
                <a:cs typeface="Arial"/>
              </a:defRPr>
            </a:lvl6pPr>
            <a:lvl7pPr>
              <a:buNone/>
              <a:defRPr sz="5400" b="1">
                <a:solidFill>
                  <a:srgbClr val="172C3B"/>
                </a:solidFill>
                <a:latin typeface="Arial"/>
                <a:ea typeface="Arial"/>
                <a:cs typeface="Arial"/>
              </a:defRPr>
            </a:lvl7pPr>
            <a:lvl8pPr>
              <a:buNone/>
              <a:defRPr sz="5400" b="1">
                <a:solidFill>
                  <a:srgbClr val="172C3B"/>
                </a:solidFill>
                <a:latin typeface="Arial"/>
                <a:ea typeface="Arial"/>
                <a:cs typeface="Arial"/>
              </a:defRPr>
            </a:lvl8pPr>
            <a:lvl9pPr>
              <a:buNone/>
              <a:defRPr sz="5400" b="1">
                <a:solidFill>
                  <a:srgbClr val="172C3B"/>
                </a:solidFill>
                <a:latin typeface="Arial"/>
                <a:ea typeface="Arial"/>
                <a:cs typeface="Arial"/>
              </a:defRPr>
            </a:lvl9pPr>
          </a:lstStyle>
          <a:p xmlns:a="http://schemas.openxmlformats.org/drawingml/2006/main">
            <a:pPr>
              <a:buNone/>
              <a:defRPr sz="5400" b="1">
                <a:solidFill>
                  <a:srgbClr val="172C3B"/>
                </a:solidFill>
                <a:latin typeface="Arial"/>
                <a:ea typeface="Arial"/>
                <a:cs typeface="Arial"/>
              </a:defRPr>
            </a:pPr>
            <a:r>
              <a:rPr sz="5400" b="1">
                <a:solidFill>
                  <a:srgbClr val="172C3B"/>
                </a:solidFill>
                <a:latin typeface="Arial"/>
                <a:ea typeface="Arial"/>
                <a:cs typeface="Arial"/>
              </a:rPr>
              <a:t>Oil Evidence</a:t>
            </a:r>
          </a:p>
        </p:txBody>
      </p:sp>
      <p:sp>
        <p:nvSpPr>
          <p:cNvPr id="2" name="">
            <a:extLst xmlns:a="http://schemas.openxmlformats.org/drawingml/2006/main">
              <a:ext uri="{FF2B5EF4-FFF2-40B4-BE49-F238E27FC236}">
                <a16:creationId xmlns:a16="http://schemas.microsoft.com/office/drawing/2014/main" id="{46E63424-85EE-4E94-9F44-4D381EB80096}"/>
              </a:ext>
            </a:extLst>
          </p:cNvPr>
          <p:cNvSpPr>
            <a:spLocks xmlns:a="http://schemas.openxmlformats.org/drawingml/2006/main" noGrp="1"/>
          </p:cNvSpPr>
          <p:nvPr/>
        </p:nvSpPr>
        <p:spPr>
          <a:xfrm xmlns:a="http://schemas.openxmlformats.org/drawingml/2006/main">
            <a:off x="685800" y="2333625"/>
            <a:ext cx="1057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72C3B"/>
                </a:solidFill>
                <a:latin typeface="Arial"/>
                <a:ea typeface="Arial"/>
                <a:cs typeface="Arial"/>
              </a:defRPr>
            </a:defPPr>
            <a:lvl1pPr>
              <a:buNone/>
              <a:defRPr sz="2550" b="0">
                <a:solidFill>
                  <a:srgbClr val="172C3B"/>
                </a:solidFill>
                <a:latin typeface="Arial"/>
                <a:ea typeface="Arial"/>
                <a:cs typeface="Arial"/>
              </a:defRPr>
            </a:lvl1pPr>
            <a:lvl2pPr>
              <a:buNone/>
              <a:defRPr sz="2550" b="0">
                <a:solidFill>
                  <a:srgbClr val="172C3B"/>
                </a:solidFill>
                <a:latin typeface="Arial"/>
                <a:ea typeface="Arial"/>
                <a:cs typeface="Arial"/>
              </a:defRPr>
            </a:lvl2pPr>
            <a:lvl3pPr>
              <a:buNone/>
              <a:defRPr sz="2550" b="0">
                <a:solidFill>
                  <a:srgbClr val="172C3B"/>
                </a:solidFill>
                <a:latin typeface="Arial"/>
                <a:ea typeface="Arial"/>
                <a:cs typeface="Arial"/>
              </a:defRPr>
            </a:lvl3pPr>
            <a:lvl4pPr>
              <a:buNone/>
              <a:defRPr sz="2550" b="0">
                <a:solidFill>
                  <a:srgbClr val="172C3B"/>
                </a:solidFill>
                <a:latin typeface="Arial"/>
                <a:ea typeface="Arial"/>
                <a:cs typeface="Arial"/>
              </a:defRPr>
            </a:lvl4pPr>
            <a:lvl5pPr>
              <a:buNone/>
              <a:defRPr sz="2550" b="0">
                <a:solidFill>
                  <a:srgbClr val="172C3B"/>
                </a:solidFill>
                <a:latin typeface="Arial"/>
                <a:ea typeface="Arial"/>
                <a:cs typeface="Arial"/>
              </a:defRPr>
            </a:lvl5pPr>
            <a:lvl6pPr>
              <a:buNone/>
              <a:defRPr sz="2550" b="0">
                <a:solidFill>
                  <a:srgbClr val="172C3B"/>
                </a:solidFill>
                <a:latin typeface="Arial"/>
                <a:ea typeface="Arial"/>
                <a:cs typeface="Arial"/>
              </a:defRPr>
            </a:lvl6pPr>
            <a:lvl7pPr>
              <a:buNone/>
              <a:defRPr sz="2550" b="0">
                <a:solidFill>
                  <a:srgbClr val="172C3B"/>
                </a:solidFill>
                <a:latin typeface="Arial"/>
                <a:ea typeface="Arial"/>
                <a:cs typeface="Arial"/>
              </a:defRPr>
            </a:lvl7pPr>
            <a:lvl8pPr>
              <a:buNone/>
              <a:defRPr sz="2550" b="0">
                <a:solidFill>
                  <a:srgbClr val="172C3B"/>
                </a:solidFill>
                <a:latin typeface="Arial"/>
                <a:ea typeface="Arial"/>
                <a:cs typeface="Arial"/>
              </a:defRPr>
            </a:lvl8pPr>
            <a:lvl9pPr>
              <a:buNone/>
              <a:defRPr sz="2550" b="0">
                <a:solidFill>
                  <a:srgbClr val="172C3B"/>
                </a:solidFill>
                <a:latin typeface="Arial"/>
                <a:ea typeface="Arial"/>
                <a:cs typeface="Arial"/>
              </a:defRPr>
            </a:lvl9pPr>
          </a:lstStyle>
          <a:p xmlns:a="http://schemas.openxmlformats.org/drawingml/2006/main">
            <a:pPr>
              <a:buNone/>
              <a:defRPr sz="2550" b="0">
                <a:solidFill>
                  <a:srgbClr val="172C3B"/>
                </a:solidFill>
                <a:latin typeface="Arial"/>
                <a:ea typeface="Arial"/>
                <a:cs typeface="Arial"/>
              </a:defRPr>
            </a:pPr>
            <a:r>
              <a:rPr sz="2550" b="0">
                <a:solidFill>
                  <a:srgbClr val="172C3B"/>
                </a:solidFill>
                <a:latin typeface="Arial"/>
                <a:ea typeface="Arial"/>
                <a:cs typeface="Arial"/>
              </a:rPr>
              <a:t>Evidence-grounded question answering for crude oil research</a:t>
            </a:r>
          </a:p>
        </p:txBody>
      </p:sp>
      <p:sp>
        <p:nvSpPr>
          <p:cNvPr id="3" name="">
            <a:extLst xmlns:a="http://schemas.openxmlformats.org/drawingml/2006/main">
              <a:ext uri="{FF2B5EF4-FFF2-40B4-BE49-F238E27FC236}">
                <a16:creationId xmlns:a16="http://schemas.microsoft.com/office/drawing/2014/main" id="{0D039E8C-59B2-4C71-9C9C-A315B7212971}"/>
              </a:ext>
            </a:extLst>
          </p:cNvPr>
          <p:cNvSpPr>
            <a:spLocks xmlns:a="http://schemas.openxmlformats.org/drawingml/2006/main" noGrp="1"/>
          </p:cNvSpPr>
          <p:nvPr/>
        </p:nvSpPr>
        <p:spPr>
          <a:xfrm xmlns:a="http://schemas.openxmlformats.org/drawingml/2006/main">
            <a:off x="685800" y="352425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4D606C"/>
                </a:solidFill>
                <a:latin typeface="Arial"/>
                <a:ea typeface="Arial"/>
                <a:cs typeface="Arial"/>
              </a:defRPr>
            </a:defPPr>
            <a:lvl1pPr>
              <a:buNone/>
              <a:defRPr sz="2250" b="0">
                <a:solidFill>
                  <a:srgbClr val="4D606C"/>
                </a:solidFill>
                <a:latin typeface="Arial"/>
                <a:ea typeface="Arial"/>
                <a:cs typeface="Arial"/>
              </a:defRPr>
            </a:lvl1pPr>
            <a:lvl2pPr>
              <a:buNone/>
              <a:defRPr sz="2250" b="0">
                <a:solidFill>
                  <a:srgbClr val="4D606C"/>
                </a:solidFill>
                <a:latin typeface="Arial"/>
                <a:ea typeface="Arial"/>
                <a:cs typeface="Arial"/>
              </a:defRPr>
            </a:lvl2pPr>
            <a:lvl3pPr>
              <a:buNone/>
              <a:defRPr sz="2250" b="0">
                <a:solidFill>
                  <a:srgbClr val="4D606C"/>
                </a:solidFill>
                <a:latin typeface="Arial"/>
                <a:ea typeface="Arial"/>
                <a:cs typeface="Arial"/>
              </a:defRPr>
            </a:lvl3pPr>
            <a:lvl4pPr>
              <a:buNone/>
              <a:defRPr sz="2250" b="0">
                <a:solidFill>
                  <a:srgbClr val="4D606C"/>
                </a:solidFill>
                <a:latin typeface="Arial"/>
                <a:ea typeface="Arial"/>
                <a:cs typeface="Arial"/>
              </a:defRPr>
            </a:lvl4pPr>
            <a:lvl5pPr>
              <a:buNone/>
              <a:defRPr sz="2250" b="0">
                <a:solidFill>
                  <a:srgbClr val="4D606C"/>
                </a:solidFill>
                <a:latin typeface="Arial"/>
                <a:ea typeface="Arial"/>
                <a:cs typeface="Arial"/>
              </a:defRPr>
            </a:lvl5pPr>
            <a:lvl6pPr>
              <a:buNone/>
              <a:defRPr sz="2250" b="0">
                <a:solidFill>
                  <a:srgbClr val="4D606C"/>
                </a:solidFill>
                <a:latin typeface="Arial"/>
                <a:ea typeface="Arial"/>
                <a:cs typeface="Arial"/>
              </a:defRPr>
            </a:lvl6pPr>
            <a:lvl7pPr>
              <a:buNone/>
              <a:defRPr sz="2250" b="0">
                <a:solidFill>
                  <a:srgbClr val="4D606C"/>
                </a:solidFill>
                <a:latin typeface="Arial"/>
                <a:ea typeface="Arial"/>
                <a:cs typeface="Arial"/>
              </a:defRPr>
            </a:lvl7pPr>
            <a:lvl8pPr>
              <a:buNone/>
              <a:defRPr sz="2250" b="0">
                <a:solidFill>
                  <a:srgbClr val="4D606C"/>
                </a:solidFill>
                <a:latin typeface="Arial"/>
                <a:ea typeface="Arial"/>
                <a:cs typeface="Arial"/>
              </a:defRPr>
            </a:lvl8pPr>
            <a:lvl9pPr>
              <a:buNone/>
              <a:defRPr sz="2250" b="0">
                <a:solidFill>
                  <a:srgbClr val="4D606C"/>
                </a:solidFill>
                <a:latin typeface="Arial"/>
                <a:ea typeface="Arial"/>
                <a:cs typeface="Arial"/>
              </a:defRPr>
            </a:lvl9pPr>
          </a:lstStyle>
          <a:p xmlns:a="http://schemas.openxmlformats.org/drawingml/2006/main">
            <a:pPr>
              <a:buNone/>
              <a:defRPr sz="2250" b="0">
                <a:solidFill>
                  <a:srgbClr val="4D606C"/>
                </a:solidFill>
                <a:latin typeface="Arial"/>
                <a:ea typeface="Arial"/>
                <a:cs typeface="Arial"/>
              </a:defRPr>
            </a:pPr>
            <a:r>
              <a:rPr sz="2250" b="0">
                <a:solidFill>
                  <a:srgbClr val="4D606C"/>
                </a:solidFill>
                <a:latin typeface="Arial"/>
                <a:ea typeface="Arial"/>
                <a:cs typeface="Arial"/>
              </a:rPr>
              <a:t>AI6127 NLP assignment</a:t>
            </a:r>
          </a:p>
        </p:txBody>
      </p:sp>
      <p:sp>
        <p:nvSpPr>
          <p:cNvPr id="4" name="">
            <a:extLst xmlns:a="http://schemas.openxmlformats.org/drawingml/2006/main">
              <a:ext uri="{FF2B5EF4-FFF2-40B4-BE49-F238E27FC236}">
                <a16:creationId xmlns:a16="http://schemas.microsoft.com/office/drawing/2014/main" id="{E78600F9-7BC2-4063-8BF4-A898ADE102A0}"/>
              </a:ext>
            </a:extLst>
          </p:cNvPr>
          <p:cNvSpPr>
            <a:spLocks xmlns:a="http://schemas.openxmlformats.org/drawingml/2006/main" noGrp="1"/>
          </p:cNvSpPr>
          <p:nvPr/>
        </p:nvSpPr>
        <p:spPr>
          <a:xfrm xmlns:a="http://schemas.openxmlformats.org/drawingml/2006/main">
            <a:off x="685800" y="44958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172C3B"/>
                </a:solidFill>
                <a:latin typeface="Arial"/>
                <a:ea typeface="Arial"/>
                <a:cs typeface="Arial"/>
              </a:defRPr>
            </a:defPPr>
            <a:lvl1pPr>
              <a:buNone/>
              <a:defRPr sz="1950" b="0">
                <a:solidFill>
                  <a:srgbClr val="172C3B"/>
                </a:solidFill>
                <a:latin typeface="Arial"/>
                <a:ea typeface="Arial"/>
                <a:cs typeface="Arial"/>
              </a:defRPr>
            </a:lvl1pPr>
            <a:lvl2pPr>
              <a:buNone/>
              <a:defRPr sz="1950" b="0">
                <a:solidFill>
                  <a:srgbClr val="172C3B"/>
                </a:solidFill>
                <a:latin typeface="Arial"/>
                <a:ea typeface="Arial"/>
                <a:cs typeface="Arial"/>
              </a:defRPr>
            </a:lvl2pPr>
            <a:lvl3pPr>
              <a:buNone/>
              <a:defRPr sz="1950" b="0">
                <a:solidFill>
                  <a:srgbClr val="172C3B"/>
                </a:solidFill>
                <a:latin typeface="Arial"/>
                <a:ea typeface="Arial"/>
                <a:cs typeface="Arial"/>
              </a:defRPr>
            </a:lvl3pPr>
            <a:lvl4pPr>
              <a:buNone/>
              <a:defRPr sz="1950" b="0">
                <a:solidFill>
                  <a:srgbClr val="172C3B"/>
                </a:solidFill>
                <a:latin typeface="Arial"/>
                <a:ea typeface="Arial"/>
                <a:cs typeface="Arial"/>
              </a:defRPr>
            </a:lvl4pPr>
            <a:lvl5pPr>
              <a:buNone/>
              <a:defRPr sz="1950" b="0">
                <a:solidFill>
                  <a:srgbClr val="172C3B"/>
                </a:solidFill>
                <a:latin typeface="Arial"/>
                <a:ea typeface="Arial"/>
                <a:cs typeface="Arial"/>
              </a:defRPr>
            </a:lvl5pPr>
            <a:lvl6pPr>
              <a:buNone/>
              <a:defRPr sz="1950" b="0">
                <a:solidFill>
                  <a:srgbClr val="172C3B"/>
                </a:solidFill>
                <a:latin typeface="Arial"/>
                <a:ea typeface="Arial"/>
                <a:cs typeface="Arial"/>
              </a:defRPr>
            </a:lvl6pPr>
            <a:lvl7pPr>
              <a:buNone/>
              <a:defRPr sz="1950" b="0">
                <a:solidFill>
                  <a:srgbClr val="172C3B"/>
                </a:solidFill>
                <a:latin typeface="Arial"/>
                <a:ea typeface="Arial"/>
                <a:cs typeface="Arial"/>
              </a:defRPr>
            </a:lvl7pPr>
            <a:lvl8pPr>
              <a:buNone/>
              <a:defRPr sz="1950" b="0">
                <a:solidFill>
                  <a:srgbClr val="172C3B"/>
                </a:solidFill>
                <a:latin typeface="Arial"/>
                <a:ea typeface="Arial"/>
                <a:cs typeface="Arial"/>
              </a:defRPr>
            </a:lvl8pPr>
            <a:lvl9pPr>
              <a:buNone/>
              <a:defRPr sz="1950" b="0">
                <a:solidFill>
                  <a:srgbClr val="172C3B"/>
                </a:solidFill>
                <a:latin typeface="Arial"/>
                <a:ea typeface="Arial"/>
                <a:cs typeface="Arial"/>
              </a:defRPr>
            </a:lvl9pPr>
          </a:lstStyle>
          <a:p xmlns:a="http://schemas.openxmlformats.org/drawingml/2006/main">
            <a:pPr>
              <a:buNone/>
              <a:defRPr sz="1950" b="0">
                <a:solidFill>
                  <a:srgbClr val="172C3B"/>
                </a:solidFill>
                <a:latin typeface="Arial"/>
                <a:ea typeface="Arial"/>
                <a:cs typeface="Arial"/>
              </a:defRPr>
            </a:pPr>
            <a:r>
              <a:rPr sz="1950" b="0">
                <a:solidFill>
                  <a:srgbClr val="172C3B"/>
                </a:solidFill>
                <a:latin typeface="Arial"/>
                <a:ea typeface="Arial"/>
                <a:cs typeface="Arial"/>
              </a:rPr>
              <a:t>Group: __________     Name: __________     Matriculation: __________</a:t>
            </a:r>
          </a:p>
        </p:txBody>
      </p:sp>
      <p:sp>
        <p:nvSpPr>
          <p:cNvPr id="5" name="">
            <a:extLst xmlns:a="http://schemas.openxmlformats.org/drawingml/2006/main">
              <a:ext uri="{FF2B5EF4-FFF2-40B4-BE49-F238E27FC236}">
                <a16:creationId xmlns:a16="http://schemas.microsoft.com/office/drawing/2014/main" id="{CD61AE8B-D501-445F-84DA-739F346AA88F}"/>
              </a:ext>
            </a:extLst>
          </p:cNvPr>
          <p:cNvSpPr>
            <a:spLocks xmlns:a="http://schemas.openxmlformats.org/drawingml/2006/main" noGrp="1"/>
          </p:cNvSpPr>
          <p:nvPr/>
        </p:nvSpPr>
        <p:spPr>
          <a:xfrm xmlns:a="http://schemas.openxmlformats.org/drawingml/2006/main">
            <a:off x="685800" y="5924550"/>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184E6A"/>
                </a:solidFill>
                <a:latin typeface="Arial"/>
                <a:ea typeface="Arial"/>
                <a:cs typeface="Arial"/>
              </a:defRPr>
            </a:defPPr>
            <a:lvl1pPr>
              <a:buNone/>
              <a:defRPr sz="1950" b="1">
                <a:solidFill>
                  <a:srgbClr val="184E6A"/>
                </a:solidFill>
                <a:latin typeface="Arial"/>
                <a:ea typeface="Arial"/>
                <a:cs typeface="Arial"/>
              </a:defRPr>
            </a:lvl1pPr>
            <a:lvl2pPr>
              <a:buNone/>
              <a:defRPr sz="1950" b="1">
                <a:solidFill>
                  <a:srgbClr val="184E6A"/>
                </a:solidFill>
                <a:latin typeface="Arial"/>
                <a:ea typeface="Arial"/>
                <a:cs typeface="Arial"/>
              </a:defRPr>
            </a:lvl2pPr>
            <a:lvl3pPr>
              <a:buNone/>
              <a:defRPr sz="1950" b="1">
                <a:solidFill>
                  <a:srgbClr val="184E6A"/>
                </a:solidFill>
                <a:latin typeface="Arial"/>
                <a:ea typeface="Arial"/>
                <a:cs typeface="Arial"/>
              </a:defRPr>
            </a:lvl3pPr>
            <a:lvl4pPr>
              <a:buNone/>
              <a:defRPr sz="1950" b="1">
                <a:solidFill>
                  <a:srgbClr val="184E6A"/>
                </a:solidFill>
                <a:latin typeface="Arial"/>
                <a:ea typeface="Arial"/>
                <a:cs typeface="Arial"/>
              </a:defRPr>
            </a:lvl4pPr>
            <a:lvl5pPr>
              <a:buNone/>
              <a:defRPr sz="1950" b="1">
                <a:solidFill>
                  <a:srgbClr val="184E6A"/>
                </a:solidFill>
                <a:latin typeface="Arial"/>
                <a:ea typeface="Arial"/>
                <a:cs typeface="Arial"/>
              </a:defRPr>
            </a:lvl5pPr>
            <a:lvl6pPr>
              <a:buNone/>
              <a:defRPr sz="1950" b="1">
                <a:solidFill>
                  <a:srgbClr val="184E6A"/>
                </a:solidFill>
                <a:latin typeface="Arial"/>
                <a:ea typeface="Arial"/>
                <a:cs typeface="Arial"/>
              </a:defRPr>
            </a:lvl6pPr>
            <a:lvl7pPr>
              <a:buNone/>
              <a:defRPr sz="1950" b="1">
                <a:solidFill>
                  <a:srgbClr val="184E6A"/>
                </a:solidFill>
                <a:latin typeface="Arial"/>
                <a:ea typeface="Arial"/>
                <a:cs typeface="Arial"/>
              </a:defRPr>
            </a:lvl7pPr>
            <a:lvl8pPr>
              <a:buNone/>
              <a:defRPr sz="1950" b="1">
                <a:solidFill>
                  <a:srgbClr val="184E6A"/>
                </a:solidFill>
                <a:latin typeface="Arial"/>
                <a:ea typeface="Arial"/>
                <a:cs typeface="Arial"/>
              </a:defRPr>
            </a:lvl8pPr>
            <a:lvl9pPr>
              <a:buNone/>
              <a:defRPr sz="1950" b="1">
                <a:solidFill>
                  <a:srgbClr val="184E6A"/>
                </a:solidFill>
                <a:latin typeface="Arial"/>
                <a:ea typeface="Arial"/>
                <a:cs typeface="Arial"/>
              </a:defRPr>
            </a:lvl9pPr>
          </a:lstStyle>
          <a:p xmlns:a="http://schemas.openxmlformats.org/drawingml/2006/main">
            <a:pPr>
              <a:buNone/>
              <a:defRPr sz="1950" b="1">
                <a:solidFill>
                  <a:srgbClr val="184E6A"/>
                </a:solidFill>
                <a:latin typeface="Arial"/>
                <a:ea typeface="Arial"/>
                <a:cs typeface="Arial"/>
              </a:defRPr>
            </a:pPr>
            <a:r>
              <a:rPr sz="1950" b="1">
                <a:solidFill>
                  <a:srgbClr val="184E6A"/>
                </a:solidFill>
                <a:latin typeface="Arial"/>
                <a:ea typeface="Arial"/>
                <a:cs typeface="Arial"/>
              </a:rPr>
              <a:t>DRAFT</a:t>
            </a:r>
          </a:p>
        </p:txBody>
      </p:sp>
    </p:spTree>
    <p:extLst>
      <p:ext uri="{BB962C8B-B14F-4D97-AF65-F5344CB8AC3E}">
        <p14:creationId xmlns:p14="http://schemas.microsoft.com/office/powerpoint/2010/main" val="532578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CC6A19-86A9-4A60-8210-3015898B3B63}"/>
              </a:ext>
            </a:extLst>
          </p:cNvPr>
          <p:cNvSpPr>
            <a:spLocks xmlns:a="http://schemas.openxmlformats.org/drawingml/2006/main" noGrp="1"/>
          </p:cNvSpPr>
          <p:nvPr/>
        </p:nvSpPr>
        <p:spPr>
          <a:xfrm xmlns:a="http://schemas.openxmlformats.org/drawingml/2006/main">
            <a:off x="685800" y="49530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2C3B"/>
                </a:solidFill>
                <a:latin typeface="Arial"/>
                <a:ea typeface="Arial"/>
                <a:cs typeface="Arial"/>
              </a:defRPr>
            </a:defPPr>
            <a:lvl1pPr>
              <a:buNone/>
              <a:defRPr sz="3300" b="1">
                <a:solidFill>
                  <a:srgbClr val="172C3B"/>
                </a:solidFill>
                <a:latin typeface="Arial"/>
                <a:ea typeface="Arial"/>
                <a:cs typeface="Arial"/>
              </a:defRPr>
            </a:lvl1pPr>
            <a:lvl2pPr>
              <a:buNone/>
              <a:defRPr sz="3300" b="1">
                <a:solidFill>
                  <a:srgbClr val="172C3B"/>
                </a:solidFill>
                <a:latin typeface="Arial"/>
                <a:ea typeface="Arial"/>
                <a:cs typeface="Arial"/>
              </a:defRPr>
            </a:lvl2pPr>
            <a:lvl3pPr>
              <a:buNone/>
              <a:defRPr sz="3300" b="1">
                <a:solidFill>
                  <a:srgbClr val="172C3B"/>
                </a:solidFill>
                <a:latin typeface="Arial"/>
                <a:ea typeface="Arial"/>
                <a:cs typeface="Arial"/>
              </a:defRPr>
            </a:lvl3pPr>
            <a:lvl4pPr>
              <a:buNone/>
              <a:defRPr sz="3300" b="1">
                <a:solidFill>
                  <a:srgbClr val="172C3B"/>
                </a:solidFill>
                <a:latin typeface="Arial"/>
                <a:ea typeface="Arial"/>
                <a:cs typeface="Arial"/>
              </a:defRPr>
            </a:lvl4pPr>
            <a:lvl5pPr>
              <a:buNone/>
              <a:defRPr sz="3300" b="1">
                <a:solidFill>
                  <a:srgbClr val="172C3B"/>
                </a:solidFill>
                <a:latin typeface="Arial"/>
                <a:ea typeface="Arial"/>
                <a:cs typeface="Arial"/>
              </a:defRPr>
            </a:lvl5pPr>
            <a:lvl6pPr>
              <a:buNone/>
              <a:defRPr sz="3300" b="1">
                <a:solidFill>
                  <a:srgbClr val="172C3B"/>
                </a:solidFill>
                <a:latin typeface="Arial"/>
                <a:ea typeface="Arial"/>
                <a:cs typeface="Arial"/>
              </a:defRPr>
            </a:lvl6pPr>
            <a:lvl7pPr>
              <a:buNone/>
              <a:defRPr sz="3300" b="1">
                <a:solidFill>
                  <a:srgbClr val="172C3B"/>
                </a:solidFill>
                <a:latin typeface="Arial"/>
                <a:ea typeface="Arial"/>
                <a:cs typeface="Arial"/>
              </a:defRPr>
            </a:lvl7pPr>
            <a:lvl8pPr>
              <a:buNone/>
              <a:defRPr sz="3300" b="1">
                <a:solidFill>
                  <a:srgbClr val="172C3B"/>
                </a:solidFill>
                <a:latin typeface="Arial"/>
                <a:ea typeface="Arial"/>
                <a:cs typeface="Arial"/>
              </a:defRPr>
            </a:lvl8pPr>
            <a:lvl9pPr>
              <a:buNone/>
              <a:defRPr sz="3300" b="1">
                <a:solidFill>
                  <a:srgbClr val="172C3B"/>
                </a:solidFill>
                <a:latin typeface="Arial"/>
                <a:ea typeface="Arial"/>
                <a:cs typeface="Arial"/>
              </a:defRPr>
            </a:lvl9pPr>
          </a:lstStyle>
          <a:p xmlns:a="http://schemas.openxmlformats.org/drawingml/2006/main">
            <a:pPr>
              <a:buNone/>
              <a:defRPr sz="3300" b="1">
                <a:solidFill>
                  <a:srgbClr val="172C3B"/>
                </a:solidFill>
                <a:latin typeface="Arial"/>
                <a:ea typeface="Arial"/>
                <a:cs typeface="Arial"/>
              </a:defRPr>
            </a:pPr>
            <a:r>
              <a:rPr sz="3300" b="1">
                <a:solidFill>
                  <a:srgbClr val="172C3B"/>
                </a:solidFill>
                <a:latin typeface="Arial"/>
                <a:ea typeface="Arial"/>
                <a:cs typeface="Arial"/>
              </a:rPr>
              <a:t>Research question and cutoff date</a:t>
            </a:r>
          </a:p>
        </p:txBody>
      </p:sp>
      <p:sp>
        <p:nvSpPr>
          <p:cNvPr id="2" name="">
            <a:extLst xmlns:a="http://schemas.openxmlformats.org/drawingml/2006/main">
              <a:ext uri="{FF2B5EF4-FFF2-40B4-BE49-F238E27FC236}">
                <a16:creationId xmlns:a16="http://schemas.microsoft.com/office/drawing/2014/main" id="{56E222FE-CEAA-4020-B2F8-CB8D083A4006}"/>
              </a:ext>
            </a:extLst>
          </p:cNvPr>
          <p:cNvSpPr>
            <a:spLocks xmlns:a="http://schemas.openxmlformats.org/drawingml/2006/main" noGrp="1"/>
          </p:cNvSpPr>
          <p:nvPr/>
        </p:nvSpPr>
        <p:spPr>
          <a:xfrm xmlns:a="http://schemas.openxmlformats.org/drawingml/2006/main">
            <a:off x="685800" y="637222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4D606C"/>
                </a:solidFill>
                <a:latin typeface="Arial"/>
                <a:ea typeface="Arial"/>
                <a:cs typeface="Arial"/>
              </a:defRPr>
            </a:defPPr>
            <a:lvl1pPr>
              <a:buNone/>
              <a:defRPr sz="1800" b="0">
                <a:solidFill>
                  <a:srgbClr val="4D606C"/>
                </a:solidFill>
                <a:latin typeface="Arial"/>
                <a:ea typeface="Arial"/>
                <a:cs typeface="Arial"/>
              </a:defRPr>
            </a:lvl1pPr>
            <a:lvl2pPr>
              <a:buNone/>
              <a:defRPr sz="1800" b="0">
                <a:solidFill>
                  <a:srgbClr val="4D606C"/>
                </a:solidFill>
                <a:latin typeface="Arial"/>
                <a:ea typeface="Arial"/>
                <a:cs typeface="Arial"/>
              </a:defRPr>
            </a:lvl2pPr>
            <a:lvl3pPr>
              <a:buNone/>
              <a:defRPr sz="1800" b="0">
                <a:solidFill>
                  <a:srgbClr val="4D606C"/>
                </a:solidFill>
                <a:latin typeface="Arial"/>
                <a:ea typeface="Arial"/>
                <a:cs typeface="Arial"/>
              </a:defRPr>
            </a:lvl3pPr>
            <a:lvl4pPr>
              <a:buNone/>
              <a:defRPr sz="1800" b="0">
                <a:solidFill>
                  <a:srgbClr val="4D606C"/>
                </a:solidFill>
                <a:latin typeface="Arial"/>
                <a:ea typeface="Arial"/>
                <a:cs typeface="Arial"/>
              </a:defRPr>
            </a:lvl4pPr>
            <a:lvl5pPr>
              <a:buNone/>
              <a:defRPr sz="1800" b="0">
                <a:solidFill>
                  <a:srgbClr val="4D606C"/>
                </a:solidFill>
                <a:latin typeface="Arial"/>
                <a:ea typeface="Arial"/>
                <a:cs typeface="Arial"/>
              </a:defRPr>
            </a:lvl5pPr>
            <a:lvl6pPr>
              <a:buNone/>
              <a:defRPr sz="1800" b="0">
                <a:solidFill>
                  <a:srgbClr val="4D606C"/>
                </a:solidFill>
                <a:latin typeface="Arial"/>
                <a:ea typeface="Arial"/>
                <a:cs typeface="Arial"/>
              </a:defRPr>
            </a:lvl6pPr>
            <a:lvl7pPr>
              <a:buNone/>
              <a:defRPr sz="1800" b="0">
                <a:solidFill>
                  <a:srgbClr val="4D606C"/>
                </a:solidFill>
                <a:latin typeface="Arial"/>
                <a:ea typeface="Arial"/>
                <a:cs typeface="Arial"/>
              </a:defRPr>
            </a:lvl7pPr>
            <a:lvl8pPr>
              <a:buNone/>
              <a:defRPr sz="1800" b="0">
                <a:solidFill>
                  <a:srgbClr val="4D606C"/>
                </a:solidFill>
                <a:latin typeface="Arial"/>
                <a:ea typeface="Arial"/>
                <a:cs typeface="Arial"/>
              </a:defRPr>
            </a:lvl8pPr>
            <a:lvl9pPr>
              <a:buNone/>
              <a:defRPr sz="1800" b="0">
                <a:solidFill>
                  <a:srgbClr val="4D606C"/>
                </a:solidFill>
                <a:latin typeface="Arial"/>
                <a:ea typeface="Arial"/>
                <a:cs typeface="Arial"/>
              </a:defRPr>
            </a:lvl9pPr>
          </a:lstStyle>
          <a:p xmlns:a="http://schemas.openxmlformats.org/drawingml/2006/main">
            <a:pPr>
              <a:buNone/>
              <a:defRPr sz="1800" b="0">
                <a:solidFill>
                  <a:srgbClr val="4D606C"/>
                </a:solidFill>
                <a:latin typeface="Arial"/>
                <a:ea typeface="Arial"/>
                <a:cs typeface="Arial"/>
              </a:defRPr>
            </a:pPr>
            <a:r>
              <a:rPr sz="1800" b="0">
                <a:solidFill>
                  <a:srgbClr val="4D606C"/>
                </a:solidFill>
                <a:latin typeface="Arial"/>
                <a:ea typeface="Arial"/>
                <a:cs typeface="Arial"/>
              </a:rPr>
              <a:t>Human labels / automatic answer judging     2/12</a:t>
            </a:r>
          </a:p>
        </p:txBody>
      </p:sp>
      <p:sp>
        <p:nvSpPr>
          <p:cNvPr id="3" name="">
            <a:extLst xmlns:a="http://schemas.openxmlformats.org/drawingml/2006/main">
              <a:ext uri="{FF2B5EF4-FFF2-40B4-BE49-F238E27FC236}">
                <a16:creationId xmlns:a16="http://schemas.microsoft.com/office/drawing/2014/main" id="{80D1EC44-EF67-4D2A-8647-3F120B6DA23F}"/>
              </a:ext>
            </a:extLst>
          </p:cNvPr>
          <p:cNvSpPr>
            <a:spLocks xmlns:a="http://schemas.openxmlformats.org/drawingml/2006/main" noGrp="1"/>
          </p:cNvSpPr>
          <p:nvPr/>
        </p:nvSpPr>
        <p:spPr>
          <a:xfrm xmlns:a="http://schemas.openxmlformats.org/drawingml/2006/main">
            <a:off x="685800" y="1752600"/>
            <a:ext cx="10572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172C3B"/>
                </a:solidFill>
                <a:latin typeface="Arial"/>
                <a:ea typeface="Arial"/>
                <a:cs typeface="Arial"/>
              </a:defRPr>
            </a:defPPr>
            <a:lvl1pPr>
              <a:buNone/>
              <a:defRPr sz="2700" b="1">
                <a:solidFill>
                  <a:srgbClr val="172C3B"/>
                </a:solidFill>
                <a:latin typeface="Arial"/>
                <a:ea typeface="Arial"/>
                <a:cs typeface="Arial"/>
              </a:defRPr>
            </a:lvl1pPr>
            <a:lvl2pPr>
              <a:buNone/>
              <a:defRPr sz="2700" b="1">
                <a:solidFill>
                  <a:srgbClr val="172C3B"/>
                </a:solidFill>
                <a:latin typeface="Arial"/>
                <a:ea typeface="Arial"/>
                <a:cs typeface="Arial"/>
              </a:defRPr>
            </a:lvl2pPr>
            <a:lvl3pPr>
              <a:buNone/>
              <a:defRPr sz="2700" b="1">
                <a:solidFill>
                  <a:srgbClr val="172C3B"/>
                </a:solidFill>
                <a:latin typeface="Arial"/>
                <a:ea typeface="Arial"/>
                <a:cs typeface="Arial"/>
              </a:defRPr>
            </a:lvl3pPr>
            <a:lvl4pPr>
              <a:buNone/>
              <a:defRPr sz="2700" b="1">
                <a:solidFill>
                  <a:srgbClr val="172C3B"/>
                </a:solidFill>
                <a:latin typeface="Arial"/>
                <a:ea typeface="Arial"/>
                <a:cs typeface="Arial"/>
              </a:defRPr>
            </a:lvl4pPr>
            <a:lvl5pPr>
              <a:buNone/>
              <a:defRPr sz="2700" b="1">
                <a:solidFill>
                  <a:srgbClr val="172C3B"/>
                </a:solidFill>
                <a:latin typeface="Arial"/>
                <a:ea typeface="Arial"/>
                <a:cs typeface="Arial"/>
              </a:defRPr>
            </a:lvl5pPr>
            <a:lvl6pPr>
              <a:buNone/>
              <a:defRPr sz="2700" b="1">
                <a:solidFill>
                  <a:srgbClr val="172C3B"/>
                </a:solidFill>
                <a:latin typeface="Arial"/>
                <a:ea typeface="Arial"/>
                <a:cs typeface="Arial"/>
              </a:defRPr>
            </a:lvl6pPr>
            <a:lvl7pPr>
              <a:buNone/>
              <a:defRPr sz="2700" b="1">
                <a:solidFill>
                  <a:srgbClr val="172C3B"/>
                </a:solidFill>
                <a:latin typeface="Arial"/>
                <a:ea typeface="Arial"/>
                <a:cs typeface="Arial"/>
              </a:defRPr>
            </a:lvl7pPr>
            <a:lvl8pPr>
              <a:buNone/>
              <a:defRPr sz="2700" b="1">
                <a:solidFill>
                  <a:srgbClr val="172C3B"/>
                </a:solidFill>
                <a:latin typeface="Arial"/>
                <a:ea typeface="Arial"/>
                <a:cs typeface="Arial"/>
              </a:defRPr>
            </a:lvl8pPr>
            <a:lvl9pPr>
              <a:buNone/>
              <a:defRPr sz="2700" b="1">
                <a:solidFill>
                  <a:srgbClr val="172C3B"/>
                </a:solidFill>
                <a:latin typeface="Arial"/>
                <a:ea typeface="Arial"/>
                <a:cs typeface="Arial"/>
              </a:defRPr>
            </a:lvl9pPr>
          </a:lstStyle>
          <a:p xmlns:a="http://schemas.openxmlformats.org/drawingml/2006/main">
            <a:pPr>
              <a:buNone/>
              <a:defRPr sz="2700" b="1">
                <a:solidFill>
                  <a:srgbClr val="172C3B"/>
                </a:solidFill>
                <a:latin typeface="Arial"/>
                <a:ea typeface="Arial"/>
                <a:cs typeface="Arial"/>
              </a:defRPr>
            </a:pPr>
            <a:r>
              <a:rPr sz="2700" b="1">
                <a:solidFill>
                  <a:srgbClr val="172C3B"/>
                </a:solidFill>
                <a:latin typeface="Arial"/>
                <a:ea typeface="Arial"/>
                <a:cs typeface="Arial"/>
              </a:rPr>
              <a:t>What evidence available by a chosen date supports an answer about crude oil supply?</a:t>
            </a:r>
          </a:p>
        </p:txBody>
      </p:sp>
      <p:sp>
        <p:nvSpPr>
          <p:cNvPr id="4" name="">
            <a:extLst xmlns:a="http://schemas.openxmlformats.org/drawingml/2006/main">
              <a:ext uri="{FF2B5EF4-FFF2-40B4-BE49-F238E27FC236}">
                <a16:creationId xmlns:a16="http://schemas.microsoft.com/office/drawing/2014/main" id="{77EBF1FD-26BF-4135-A239-E2BD83343712}"/>
              </a:ext>
            </a:extLst>
          </p:cNvPr>
          <p:cNvSpPr>
            <a:spLocks xmlns:a="http://schemas.openxmlformats.org/drawingml/2006/main" noGrp="1"/>
          </p:cNvSpPr>
          <p:nvPr/>
        </p:nvSpPr>
        <p:spPr>
          <a:xfrm xmlns:a="http://schemas.openxmlformats.org/drawingml/2006/main">
            <a:off x="685800" y="3362325"/>
            <a:ext cx="10820400" cy="2828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72C3B"/>
                </a:solidFill>
                <a:latin typeface="Arial"/>
                <a:ea typeface="Arial"/>
                <a:cs typeface="Arial"/>
              </a:defRPr>
            </a:defPPr>
            <a:lvl1pPr>
              <a:buNone/>
              <a:defRPr sz="2250" b="0">
                <a:solidFill>
                  <a:srgbClr val="172C3B"/>
                </a:solidFill>
                <a:latin typeface="Arial"/>
                <a:ea typeface="Arial"/>
                <a:cs typeface="Arial"/>
              </a:defRPr>
            </a:lvl1pPr>
            <a:lvl2pPr>
              <a:buNone/>
              <a:defRPr sz="2250" b="0">
                <a:solidFill>
                  <a:srgbClr val="172C3B"/>
                </a:solidFill>
                <a:latin typeface="Arial"/>
                <a:ea typeface="Arial"/>
                <a:cs typeface="Arial"/>
              </a:defRPr>
            </a:lvl2pPr>
            <a:lvl3pPr>
              <a:buNone/>
              <a:defRPr sz="2250" b="0">
                <a:solidFill>
                  <a:srgbClr val="172C3B"/>
                </a:solidFill>
                <a:latin typeface="Arial"/>
                <a:ea typeface="Arial"/>
                <a:cs typeface="Arial"/>
              </a:defRPr>
            </a:lvl3pPr>
            <a:lvl4pPr>
              <a:buNone/>
              <a:defRPr sz="2250" b="0">
                <a:solidFill>
                  <a:srgbClr val="172C3B"/>
                </a:solidFill>
                <a:latin typeface="Arial"/>
                <a:ea typeface="Arial"/>
                <a:cs typeface="Arial"/>
              </a:defRPr>
            </a:lvl4pPr>
            <a:lvl5pPr>
              <a:buNone/>
              <a:defRPr sz="2250" b="0">
                <a:solidFill>
                  <a:srgbClr val="172C3B"/>
                </a:solidFill>
                <a:latin typeface="Arial"/>
                <a:ea typeface="Arial"/>
                <a:cs typeface="Arial"/>
              </a:defRPr>
            </a:lvl5pPr>
            <a:lvl6pPr>
              <a:buNone/>
              <a:defRPr sz="2250" b="0">
                <a:solidFill>
                  <a:srgbClr val="172C3B"/>
                </a:solidFill>
                <a:latin typeface="Arial"/>
                <a:ea typeface="Arial"/>
                <a:cs typeface="Arial"/>
              </a:defRPr>
            </a:lvl6pPr>
            <a:lvl7pPr>
              <a:buNone/>
              <a:defRPr sz="2250" b="0">
                <a:solidFill>
                  <a:srgbClr val="172C3B"/>
                </a:solidFill>
                <a:latin typeface="Arial"/>
                <a:ea typeface="Arial"/>
                <a:cs typeface="Arial"/>
              </a:defRPr>
            </a:lvl7pPr>
            <a:lvl8pPr>
              <a:buNone/>
              <a:defRPr sz="2250" b="0">
                <a:solidFill>
                  <a:srgbClr val="172C3B"/>
                </a:solidFill>
                <a:latin typeface="Arial"/>
                <a:ea typeface="Arial"/>
                <a:cs typeface="Arial"/>
              </a:defRPr>
            </a:lvl8pPr>
            <a:lvl9pPr>
              <a:buNone/>
              <a:defRPr sz="2250" b="0">
                <a:solidFill>
                  <a:srgbClr val="172C3B"/>
                </a:solidFill>
                <a:latin typeface="Arial"/>
                <a:ea typeface="Arial"/>
                <a:cs typeface="Arial"/>
              </a:defRPr>
            </a:lvl9pPr>
          </a:lstStyle>
          <a:p xmlns:a="http://schemas.openxmlformats.org/drawingml/2006/main">
            <a:pPr marL="254000" indent="-127000">
              <a:spcAft>
                <a:spcPts val="1800"/>
              </a:spcAft>
              <a:buChar char="•"/>
              <a:defRPr sz="2250" b="0">
                <a:solidFill>
                  <a:srgbClr val="172C3B"/>
                </a:solidFill>
                <a:latin typeface="Arial"/>
                <a:ea typeface="Arial"/>
                <a:cs typeface="Arial"/>
              </a:defRPr>
            </a:pPr>
            <a:r>
              <a:rPr sz="2250">
                <a:solidFill>
                  <a:srgbClr val="172C3B"/>
                </a:solidFill>
                <a:latin typeface="Arial"/>
                <a:ea typeface="Arial"/>
                <a:cs typeface="Arial"/>
              </a:rPr>
              <a:t>Scope covers supply disruptions, production policy, sanctions and transport events.</a:t>
            </a:r>
          </a:p>
          <a:p xmlns:a="http://schemas.openxmlformats.org/drawingml/2006/main">
            <a:pPr marL="254000" indent="-127000">
              <a:spcAft>
                <a:spcPts val="1800"/>
              </a:spcAft>
              <a:buChar char="•"/>
              <a:defRPr sz="2250" b="0">
                <a:solidFill>
                  <a:srgbClr val="172C3B"/>
                </a:solidFill>
                <a:latin typeface="Arial"/>
                <a:ea typeface="Arial"/>
                <a:cs typeface="Arial"/>
              </a:defRPr>
            </a:pPr>
            <a:r>
              <a:rPr sz="2250">
                <a:solidFill>
                  <a:srgbClr val="172C3B"/>
                </a:solidFill>
                <a:latin typeface="Arial"/>
                <a:ea typeface="Arial"/>
                <a:cs typeface="Arial"/>
              </a:rPr>
              <a:t>Each query includes a cutoff date and an optional region filter.</a:t>
            </a:r>
          </a:p>
          <a:p xmlns:a="http://schemas.openxmlformats.org/drawingml/2006/main">
            <a:pPr marL="254000" indent="-127000">
              <a:spcAft>
                <a:spcPts val="1800"/>
              </a:spcAft>
              <a:buChar char="•"/>
              <a:defRPr sz="2250" b="0">
                <a:solidFill>
                  <a:srgbClr val="172C3B"/>
                </a:solidFill>
                <a:latin typeface="Arial"/>
                <a:ea typeface="Arial"/>
                <a:cs typeface="Arial"/>
              </a:defRPr>
            </a:pPr>
            <a:r>
              <a:rPr sz="2250">
                <a:solidFill>
                  <a:srgbClr val="172C3B"/>
                </a:solidFill>
                <a:latin typeface="Arial"/>
                <a:ea typeface="Arial"/>
                <a:cs typeface="Arial"/>
              </a:rPr>
              <a:t>Answers cite source passages and disclose insufficient evidence.</a:t>
            </a:r>
          </a:p>
        </p:txBody>
      </p:sp>
    </p:spTree>
    <p:extLst>
      <p:ext uri="{BB962C8B-B14F-4D97-AF65-F5344CB8AC3E}">
        <p14:creationId xmlns:p14="http://schemas.microsoft.com/office/powerpoint/2010/main" val="12324550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6542BFD-C630-4287-9854-8038C3F2F74A}"/>
              </a:ext>
            </a:extLst>
          </p:cNvPr>
          <p:cNvSpPr>
            <a:spLocks xmlns:a="http://schemas.openxmlformats.org/drawingml/2006/main" noGrp="1"/>
          </p:cNvSpPr>
          <p:nvPr/>
        </p:nvSpPr>
        <p:spPr>
          <a:xfrm xmlns:a="http://schemas.openxmlformats.org/drawingml/2006/main">
            <a:off x="685800" y="49530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2C3B"/>
                </a:solidFill>
                <a:latin typeface="Arial"/>
                <a:ea typeface="Arial"/>
                <a:cs typeface="Arial"/>
              </a:defRPr>
            </a:defPPr>
            <a:lvl1pPr>
              <a:buNone/>
              <a:defRPr sz="3300" b="1">
                <a:solidFill>
                  <a:srgbClr val="172C3B"/>
                </a:solidFill>
                <a:latin typeface="Arial"/>
                <a:ea typeface="Arial"/>
                <a:cs typeface="Arial"/>
              </a:defRPr>
            </a:lvl1pPr>
            <a:lvl2pPr>
              <a:buNone/>
              <a:defRPr sz="3300" b="1">
                <a:solidFill>
                  <a:srgbClr val="172C3B"/>
                </a:solidFill>
                <a:latin typeface="Arial"/>
                <a:ea typeface="Arial"/>
                <a:cs typeface="Arial"/>
              </a:defRPr>
            </a:lvl2pPr>
            <a:lvl3pPr>
              <a:buNone/>
              <a:defRPr sz="3300" b="1">
                <a:solidFill>
                  <a:srgbClr val="172C3B"/>
                </a:solidFill>
                <a:latin typeface="Arial"/>
                <a:ea typeface="Arial"/>
                <a:cs typeface="Arial"/>
              </a:defRPr>
            </a:lvl3pPr>
            <a:lvl4pPr>
              <a:buNone/>
              <a:defRPr sz="3300" b="1">
                <a:solidFill>
                  <a:srgbClr val="172C3B"/>
                </a:solidFill>
                <a:latin typeface="Arial"/>
                <a:ea typeface="Arial"/>
                <a:cs typeface="Arial"/>
              </a:defRPr>
            </a:lvl4pPr>
            <a:lvl5pPr>
              <a:buNone/>
              <a:defRPr sz="3300" b="1">
                <a:solidFill>
                  <a:srgbClr val="172C3B"/>
                </a:solidFill>
                <a:latin typeface="Arial"/>
                <a:ea typeface="Arial"/>
                <a:cs typeface="Arial"/>
              </a:defRPr>
            </a:lvl5pPr>
            <a:lvl6pPr>
              <a:buNone/>
              <a:defRPr sz="3300" b="1">
                <a:solidFill>
                  <a:srgbClr val="172C3B"/>
                </a:solidFill>
                <a:latin typeface="Arial"/>
                <a:ea typeface="Arial"/>
                <a:cs typeface="Arial"/>
              </a:defRPr>
            </a:lvl6pPr>
            <a:lvl7pPr>
              <a:buNone/>
              <a:defRPr sz="3300" b="1">
                <a:solidFill>
                  <a:srgbClr val="172C3B"/>
                </a:solidFill>
                <a:latin typeface="Arial"/>
                <a:ea typeface="Arial"/>
                <a:cs typeface="Arial"/>
              </a:defRPr>
            </a:lvl7pPr>
            <a:lvl8pPr>
              <a:buNone/>
              <a:defRPr sz="3300" b="1">
                <a:solidFill>
                  <a:srgbClr val="172C3B"/>
                </a:solidFill>
                <a:latin typeface="Arial"/>
                <a:ea typeface="Arial"/>
                <a:cs typeface="Arial"/>
              </a:defRPr>
            </a:lvl8pPr>
            <a:lvl9pPr>
              <a:buNone/>
              <a:defRPr sz="3300" b="1">
                <a:solidFill>
                  <a:srgbClr val="172C3B"/>
                </a:solidFill>
                <a:latin typeface="Arial"/>
                <a:ea typeface="Arial"/>
                <a:cs typeface="Arial"/>
              </a:defRPr>
            </a:lvl9pPr>
          </a:lstStyle>
          <a:p xmlns:a="http://schemas.openxmlformats.org/drawingml/2006/main">
            <a:pPr>
              <a:buNone/>
              <a:defRPr sz="3300" b="1">
                <a:solidFill>
                  <a:srgbClr val="172C3B"/>
                </a:solidFill>
                <a:latin typeface="Arial"/>
                <a:ea typeface="Arial"/>
                <a:cs typeface="Arial"/>
              </a:defRPr>
            </a:pPr>
            <a:r>
              <a:rPr sz="3300" b="1">
                <a:solidFill>
                  <a:srgbClr val="172C3B"/>
                </a:solidFill>
                <a:latin typeface="Arial"/>
                <a:ea typeface="Arial"/>
                <a:cs typeface="Arial"/>
              </a:rPr>
              <a:t>Corpus coverage</a:t>
            </a:r>
          </a:p>
        </p:txBody>
      </p:sp>
      <p:sp>
        <p:nvSpPr>
          <p:cNvPr id="2" name="">
            <a:extLst xmlns:a="http://schemas.openxmlformats.org/drawingml/2006/main">
              <a:ext uri="{FF2B5EF4-FFF2-40B4-BE49-F238E27FC236}">
                <a16:creationId xmlns:a16="http://schemas.microsoft.com/office/drawing/2014/main" id="{BCB0A965-7419-494F-955D-39EA11A37F79}"/>
              </a:ext>
            </a:extLst>
          </p:cNvPr>
          <p:cNvSpPr>
            <a:spLocks xmlns:a="http://schemas.openxmlformats.org/drawingml/2006/main" noGrp="1"/>
          </p:cNvSpPr>
          <p:nvPr/>
        </p:nvSpPr>
        <p:spPr>
          <a:xfrm xmlns:a="http://schemas.openxmlformats.org/drawingml/2006/main">
            <a:off x="685800" y="637222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4D606C"/>
                </a:solidFill>
                <a:latin typeface="Arial"/>
                <a:ea typeface="Arial"/>
                <a:cs typeface="Arial"/>
              </a:defRPr>
            </a:defPPr>
            <a:lvl1pPr>
              <a:buNone/>
              <a:defRPr sz="1800" b="0">
                <a:solidFill>
                  <a:srgbClr val="4D606C"/>
                </a:solidFill>
                <a:latin typeface="Arial"/>
                <a:ea typeface="Arial"/>
                <a:cs typeface="Arial"/>
              </a:defRPr>
            </a:lvl1pPr>
            <a:lvl2pPr>
              <a:buNone/>
              <a:defRPr sz="1800" b="0">
                <a:solidFill>
                  <a:srgbClr val="4D606C"/>
                </a:solidFill>
                <a:latin typeface="Arial"/>
                <a:ea typeface="Arial"/>
                <a:cs typeface="Arial"/>
              </a:defRPr>
            </a:lvl2pPr>
            <a:lvl3pPr>
              <a:buNone/>
              <a:defRPr sz="1800" b="0">
                <a:solidFill>
                  <a:srgbClr val="4D606C"/>
                </a:solidFill>
                <a:latin typeface="Arial"/>
                <a:ea typeface="Arial"/>
                <a:cs typeface="Arial"/>
              </a:defRPr>
            </a:lvl3pPr>
            <a:lvl4pPr>
              <a:buNone/>
              <a:defRPr sz="1800" b="0">
                <a:solidFill>
                  <a:srgbClr val="4D606C"/>
                </a:solidFill>
                <a:latin typeface="Arial"/>
                <a:ea typeface="Arial"/>
                <a:cs typeface="Arial"/>
              </a:defRPr>
            </a:lvl4pPr>
            <a:lvl5pPr>
              <a:buNone/>
              <a:defRPr sz="1800" b="0">
                <a:solidFill>
                  <a:srgbClr val="4D606C"/>
                </a:solidFill>
                <a:latin typeface="Arial"/>
                <a:ea typeface="Arial"/>
                <a:cs typeface="Arial"/>
              </a:defRPr>
            </a:lvl5pPr>
            <a:lvl6pPr>
              <a:buNone/>
              <a:defRPr sz="1800" b="0">
                <a:solidFill>
                  <a:srgbClr val="4D606C"/>
                </a:solidFill>
                <a:latin typeface="Arial"/>
                <a:ea typeface="Arial"/>
                <a:cs typeface="Arial"/>
              </a:defRPr>
            </a:lvl6pPr>
            <a:lvl7pPr>
              <a:buNone/>
              <a:defRPr sz="1800" b="0">
                <a:solidFill>
                  <a:srgbClr val="4D606C"/>
                </a:solidFill>
                <a:latin typeface="Arial"/>
                <a:ea typeface="Arial"/>
                <a:cs typeface="Arial"/>
              </a:defRPr>
            </a:lvl7pPr>
            <a:lvl8pPr>
              <a:buNone/>
              <a:defRPr sz="1800" b="0">
                <a:solidFill>
                  <a:srgbClr val="4D606C"/>
                </a:solidFill>
                <a:latin typeface="Arial"/>
                <a:ea typeface="Arial"/>
                <a:cs typeface="Arial"/>
              </a:defRPr>
            </a:lvl8pPr>
            <a:lvl9pPr>
              <a:buNone/>
              <a:defRPr sz="1800" b="0">
                <a:solidFill>
                  <a:srgbClr val="4D606C"/>
                </a:solidFill>
                <a:latin typeface="Arial"/>
                <a:ea typeface="Arial"/>
                <a:cs typeface="Arial"/>
              </a:defRPr>
            </a:lvl9pPr>
          </a:lstStyle>
          <a:p xmlns:a="http://schemas.openxmlformats.org/drawingml/2006/main">
            <a:pPr>
              <a:buNone/>
              <a:defRPr sz="1800" b="0">
                <a:solidFill>
                  <a:srgbClr val="4D606C"/>
                </a:solidFill>
                <a:latin typeface="Arial"/>
                <a:ea typeface="Arial"/>
                <a:cs typeface="Arial"/>
              </a:defRPr>
            </a:pPr>
            <a:r>
              <a:rPr sz="1800" b="0">
                <a:solidFill>
                  <a:srgbClr val="4D606C"/>
                </a:solidFill>
                <a:latin typeface="Arial"/>
                <a:ea typeface="Arial"/>
                <a:cs typeface="Arial"/>
              </a:rPr>
              <a:t>Human labels / automatic answer judging     3/12</a:t>
            </a:r>
          </a:p>
        </p:txBody>
      </p:sp>
      <p:graphicFrame>
        <p:nvGraphicFramePr>
          <p:cNvPr id="3" name="">
            <a:extLst xmlns:a="http://schemas.openxmlformats.org/drawingml/2006/main">
              <a:ext uri="{FF2B5EF4-FFF2-40B4-BE49-F238E27FC236}">
                <a16:creationId xmlns:a16="http://schemas.microsoft.com/office/drawing/2014/main" id="{DAD5D2AC-94FB-4308-B93E-3A11F4CE2B61}"/>
              </a:ext>
            </a:extLst>
          </p:cNvPr>
          <p:cNvGraphicFramePr/>
          <p:nvPr/>
        </p:nvGraphicFramePr>
        <p:xfrm>
          <a:off xmlns:a="http://schemas.openxmlformats.org/drawingml/2006/main" x="685800" y="1676400"/>
          <a:ext xmlns:a="http://schemas.openxmlformats.org/drawingml/2006/main" cx="10820400" cy="3714750"/>
        </p:xfrm>
        <a:graphic xmlns:a="http://schemas.openxmlformats.org/drawingml/2006/main">
          <a:graphicData uri="http://schemas.openxmlformats.org/drawingml/2006/table">
            <a:tbl>
              <a:tblPr firstRow="1" bandRow="0"/>
              <a:tblGrid>
                <a:gridCol w="5905500"/>
                <a:gridCol w="4914900"/>
              </a:tblGrid>
              <a:tr h="619125">
                <a:tc>
                  <a:txBody>
                    <a:bodyPr/>
                    <a:lstStyle/>
                    <a:p>
                      <a:r>
                        <a:rPr sz="2250" b="1">
                          <a:solidFill>
                            <a:srgbClr val="184E6A"/>
                          </a:solidFill>
                          <a:latin typeface="Arial"/>
                          <a:ea typeface="Arial"/>
                          <a:cs typeface="Arial"/>
                        </a:rPr>
                        <a:t>Measure</a:t>
                      </a:r>
                    </a:p>
                  </a:txBody>
                  <a:tcPr marL="114300" marR="114300" marT="76200" marB="76200"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2250" b="1">
                          <a:solidFill>
                            <a:srgbClr val="184E6A"/>
                          </a:solidFill>
                          <a:latin typeface="Arial"/>
                          <a:ea typeface="Arial"/>
                          <a:cs typeface="Arial"/>
                        </a:rPr>
                        <a:t>Verified staging corpus</a:t>
                      </a:r>
                    </a:p>
                  </a:txBody>
                  <a:tcPr marL="114300" marR="114300" marT="76200" marB="762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r>
              <a:tr h="619125">
                <a:tc>
                  <a:txBody>
                    <a:bodyPr/>
                    <a:lstStyle/>
                    <a:p>
                      <a:r>
                        <a:rPr sz="2250">
                          <a:solidFill>
                            <a:srgbClr val="172C3B"/>
                          </a:solidFill>
                          <a:latin typeface="Arial"/>
                          <a:ea typeface="Arial"/>
                          <a:cs typeface="Arial"/>
                        </a:rPr>
                        <a:t>Evidence passages</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250">
                          <a:solidFill>
                            <a:srgbClr val="172C3B"/>
                          </a:solidFill>
                          <a:latin typeface="Arial"/>
                          <a:ea typeface="Arial"/>
                          <a:cs typeface="Arial"/>
                        </a:rPr>
                        <a:t>11,815</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r h="619125">
                <a:tc>
                  <a:txBody>
                    <a:bodyPr/>
                    <a:lstStyle/>
                    <a:p>
                      <a:r>
                        <a:rPr sz="2250">
                          <a:solidFill>
                            <a:srgbClr val="172C3B"/>
                          </a:solidFill>
                          <a:latin typeface="Arial"/>
                          <a:ea typeface="Arial"/>
                          <a:cs typeface="Arial"/>
                        </a:rPr>
                        <a:t>Words</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250">
                          <a:solidFill>
                            <a:srgbClr val="172C3B"/>
                          </a:solidFill>
                          <a:latin typeface="Arial"/>
                          <a:ea typeface="Arial"/>
                          <a:cs typeface="Arial"/>
                        </a:rPr>
                        <a:t>1,562,715</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r h="619125">
                <a:tc>
                  <a:txBody>
                    <a:bodyPr/>
                    <a:lstStyle/>
                    <a:p>
                      <a:r>
                        <a:rPr sz="2250">
                          <a:solidFill>
                            <a:srgbClr val="172C3B"/>
                          </a:solidFill>
                          <a:latin typeface="Arial"/>
                          <a:ea typeface="Arial"/>
                          <a:cs typeface="Arial"/>
                        </a:rPr>
                        <a:t>Unique word types</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250">
                          <a:solidFill>
                            <a:srgbClr val="172C3B"/>
                          </a:solidFill>
                          <a:latin typeface="Arial"/>
                          <a:ea typeface="Arial"/>
                          <a:cs typeface="Arial"/>
                        </a:rPr>
                        <a:t>28,582</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r h="619125">
                <a:tc>
                  <a:txBody>
                    <a:bodyPr/>
                    <a:lstStyle/>
                    <a:p>
                      <a:r>
                        <a:rPr sz="2250">
                          <a:solidFill>
                            <a:srgbClr val="172C3B"/>
                          </a:solidFill>
                          <a:latin typeface="Arial"/>
                          <a:ea typeface="Arial"/>
                          <a:cs typeface="Arial"/>
                        </a:rPr>
                        <a:t>Source documents</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250">
                          <a:solidFill>
                            <a:srgbClr val="172C3B"/>
                          </a:solidFill>
                          <a:latin typeface="Arial"/>
                          <a:ea typeface="Arial"/>
                          <a:cs typeface="Arial"/>
                        </a:rPr>
                        <a:t>1,527</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r h="619125">
                <a:tc>
                  <a:txBody>
                    <a:bodyPr/>
                    <a:lstStyle/>
                    <a:p>
                      <a:r>
                        <a:rPr sz="2250">
                          <a:solidFill>
                            <a:srgbClr val="172C3B"/>
                          </a:solidFill>
                          <a:latin typeface="Arial"/>
                          <a:ea typeface="Arial"/>
                          <a:cs typeface="Arial"/>
                        </a:rPr>
                        <a:t>Source pages</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250">
                          <a:solidFill>
                            <a:srgbClr val="172C3B"/>
                          </a:solidFill>
                          <a:latin typeface="Arial"/>
                          <a:ea typeface="Arial"/>
                          <a:cs typeface="Arial"/>
                        </a:rPr>
                        <a:t>5,703</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29E2B21-FD97-4E43-981C-5EBAD459CED2}"/>
              </a:ext>
            </a:extLst>
          </p:cNvPr>
          <p:cNvSpPr>
            <a:spLocks xmlns:a="http://schemas.openxmlformats.org/drawingml/2006/main" noGrp="1"/>
          </p:cNvSpPr>
          <p:nvPr/>
        </p:nvSpPr>
        <p:spPr>
          <a:xfrm xmlns:a="http://schemas.openxmlformats.org/drawingml/2006/main">
            <a:off x="685800" y="5705475"/>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4D606C"/>
                </a:solidFill>
                <a:latin typeface="Arial"/>
                <a:ea typeface="Arial"/>
                <a:cs typeface="Arial"/>
              </a:defRPr>
            </a:defPPr>
            <a:lvl1pPr>
              <a:buNone/>
              <a:defRPr sz="1950" b="0">
                <a:solidFill>
                  <a:srgbClr val="4D606C"/>
                </a:solidFill>
                <a:latin typeface="Arial"/>
                <a:ea typeface="Arial"/>
                <a:cs typeface="Arial"/>
              </a:defRPr>
            </a:lvl1pPr>
            <a:lvl2pPr>
              <a:buNone/>
              <a:defRPr sz="1950" b="0">
                <a:solidFill>
                  <a:srgbClr val="4D606C"/>
                </a:solidFill>
                <a:latin typeface="Arial"/>
                <a:ea typeface="Arial"/>
                <a:cs typeface="Arial"/>
              </a:defRPr>
            </a:lvl2pPr>
            <a:lvl3pPr>
              <a:buNone/>
              <a:defRPr sz="1950" b="0">
                <a:solidFill>
                  <a:srgbClr val="4D606C"/>
                </a:solidFill>
                <a:latin typeface="Arial"/>
                <a:ea typeface="Arial"/>
                <a:cs typeface="Arial"/>
              </a:defRPr>
            </a:lvl3pPr>
            <a:lvl4pPr>
              <a:buNone/>
              <a:defRPr sz="1950" b="0">
                <a:solidFill>
                  <a:srgbClr val="4D606C"/>
                </a:solidFill>
                <a:latin typeface="Arial"/>
                <a:ea typeface="Arial"/>
                <a:cs typeface="Arial"/>
              </a:defRPr>
            </a:lvl4pPr>
            <a:lvl5pPr>
              <a:buNone/>
              <a:defRPr sz="1950" b="0">
                <a:solidFill>
                  <a:srgbClr val="4D606C"/>
                </a:solidFill>
                <a:latin typeface="Arial"/>
                <a:ea typeface="Arial"/>
                <a:cs typeface="Arial"/>
              </a:defRPr>
            </a:lvl5pPr>
            <a:lvl6pPr>
              <a:buNone/>
              <a:defRPr sz="1950" b="0">
                <a:solidFill>
                  <a:srgbClr val="4D606C"/>
                </a:solidFill>
                <a:latin typeface="Arial"/>
                <a:ea typeface="Arial"/>
                <a:cs typeface="Arial"/>
              </a:defRPr>
            </a:lvl6pPr>
            <a:lvl7pPr>
              <a:buNone/>
              <a:defRPr sz="1950" b="0">
                <a:solidFill>
                  <a:srgbClr val="4D606C"/>
                </a:solidFill>
                <a:latin typeface="Arial"/>
                <a:ea typeface="Arial"/>
                <a:cs typeface="Arial"/>
              </a:defRPr>
            </a:lvl7pPr>
            <a:lvl8pPr>
              <a:buNone/>
              <a:defRPr sz="1950" b="0">
                <a:solidFill>
                  <a:srgbClr val="4D606C"/>
                </a:solidFill>
                <a:latin typeface="Arial"/>
                <a:ea typeface="Arial"/>
                <a:cs typeface="Arial"/>
              </a:defRPr>
            </a:lvl8pPr>
            <a:lvl9pPr>
              <a:buNone/>
              <a:defRPr sz="1950" b="0">
                <a:solidFill>
                  <a:srgbClr val="4D606C"/>
                </a:solidFill>
                <a:latin typeface="Arial"/>
                <a:ea typeface="Arial"/>
                <a:cs typeface="Arial"/>
              </a:defRPr>
            </a:lvl9pPr>
          </a:lstStyle>
          <a:p xmlns:a="http://schemas.openxmlformats.org/drawingml/2006/main">
            <a:pPr>
              <a:buNone/>
              <a:defRPr sz="1950" b="0">
                <a:solidFill>
                  <a:srgbClr val="4D606C"/>
                </a:solidFill>
                <a:latin typeface="Arial"/>
                <a:ea typeface="Arial"/>
                <a:cs typeface="Arial"/>
              </a:defRPr>
            </a:pPr>
            <a:r>
              <a:rPr sz="1950" b="0">
                <a:solidFill>
                  <a:srgbClr val="4D606C"/>
                </a:solidFill>
                <a:latin typeface="Arial"/>
                <a:ea typeface="Arial"/>
                <a:cs typeface="Arial"/>
              </a:rPr>
              <a:t>Official sources include EIA, Treasury, DOE, BSEE and BOEM.</a:t>
            </a:r>
          </a:p>
        </p:txBody>
      </p:sp>
    </p:spTree>
    <p:extLst>
      <p:ext uri="{BB962C8B-B14F-4D97-AF65-F5344CB8AC3E}">
        <p14:creationId xmlns:p14="http://schemas.microsoft.com/office/powerpoint/2010/main" val="15469222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B50AAE-8F38-4E0B-B1BE-668598FE4C31}"/>
              </a:ext>
            </a:extLst>
          </p:cNvPr>
          <p:cNvSpPr>
            <a:spLocks xmlns:a="http://schemas.openxmlformats.org/drawingml/2006/main" noGrp="1"/>
          </p:cNvSpPr>
          <p:nvPr/>
        </p:nvSpPr>
        <p:spPr>
          <a:xfrm xmlns:a="http://schemas.openxmlformats.org/drawingml/2006/main">
            <a:off x="685800" y="49530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2C3B"/>
                </a:solidFill>
                <a:latin typeface="Arial"/>
                <a:ea typeface="Arial"/>
                <a:cs typeface="Arial"/>
              </a:defRPr>
            </a:defPPr>
            <a:lvl1pPr>
              <a:buNone/>
              <a:defRPr sz="3300" b="1">
                <a:solidFill>
                  <a:srgbClr val="172C3B"/>
                </a:solidFill>
                <a:latin typeface="Arial"/>
                <a:ea typeface="Arial"/>
                <a:cs typeface="Arial"/>
              </a:defRPr>
            </a:lvl1pPr>
            <a:lvl2pPr>
              <a:buNone/>
              <a:defRPr sz="3300" b="1">
                <a:solidFill>
                  <a:srgbClr val="172C3B"/>
                </a:solidFill>
                <a:latin typeface="Arial"/>
                <a:ea typeface="Arial"/>
                <a:cs typeface="Arial"/>
              </a:defRPr>
            </a:lvl2pPr>
            <a:lvl3pPr>
              <a:buNone/>
              <a:defRPr sz="3300" b="1">
                <a:solidFill>
                  <a:srgbClr val="172C3B"/>
                </a:solidFill>
                <a:latin typeface="Arial"/>
                <a:ea typeface="Arial"/>
                <a:cs typeface="Arial"/>
              </a:defRPr>
            </a:lvl3pPr>
            <a:lvl4pPr>
              <a:buNone/>
              <a:defRPr sz="3300" b="1">
                <a:solidFill>
                  <a:srgbClr val="172C3B"/>
                </a:solidFill>
                <a:latin typeface="Arial"/>
                <a:ea typeface="Arial"/>
                <a:cs typeface="Arial"/>
              </a:defRPr>
            </a:lvl4pPr>
            <a:lvl5pPr>
              <a:buNone/>
              <a:defRPr sz="3300" b="1">
                <a:solidFill>
                  <a:srgbClr val="172C3B"/>
                </a:solidFill>
                <a:latin typeface="Arial"/>
                <a:ea typeface="Arial"/>
                <a:cs typeface="Arial"/>
              </a:defRPr>
            </a:lvl5pPr>
            <a:lvl6pPr>
              <a:buNone/>
              <a:defRPr sz="3300" b="1">
                <a:solidFill>
                  <a:srgbClr val="172C3B"/>
                </a:solidFill>
                <a:latin typeface="Arial"/>
                <a:ea typeface="Arial"/>
                <a:cs typeface="Arial"/>
              </a:defRPr>
            </a:lvl6pPr>
            <a:lvl7pPr>
              <a:buNone/>
              <a:defRPr sz="3300" b="1">
                <a:solidFill>
                  <a:srgbClr val="172C3B"/>
                </a:solidFill>
                <a:latin typeface="Arial"/>
                <a:ea typeface="Arial"/>
                <a:cs typeface="Arial"/>
              </a:defRPr>
            </a:lvl7pPr>
            <a:lvl8pPr>
              <a:buNone/>
              <a:defRPr sz="3300" b="1">
                <a:solidFill>
                  <a:srgbClr val="172C3B"/>
                </a:solidFill>
                <a:latin typeface="Arial"/>
                <a:ea typeface="Arial"/>
                <a:cs typeface="Arial"/>
              </a:defRPr>
            </a:lvl8pPr>
            <a:lvl9pPr>
              <a:buNone/>
              <a:defRPr sz="3300" b="1">
                <a:solidFill>
                  <a:srgbClr val="172C3B"/>
                </a:solidFill>
                <a:latin typeface="Arial"/>
                <a:ea typeface="Arial"/>
                <a:cs typeface="Arial"/>
              </a:defRPr>
            </a:lvl9pPr>
          </a:lstStyle>
          <a:p xmlns:a="http://schemas.openxmlformats.org/drawingml/2006/main">
            <a:pPr>
              <a:buNone/>
              <a:defRPr sz="3300" b="1">
                <a:solidFill>
                  <a:srgbClr val="172C3B"/>
                </a:solidFill>
                <a:latin typeface="Arial"/>
                <a:ea typeface="Arial"/>
                <a:cs typeface="Arial"/>
              </a:defRPr>
            </a:pPr>
            <a:r>
              <a:rPr sz="3300" b="1">
                <a:solidFill>
                  <a:srgbClr val="172C3B"/>
                </a:solidFill>
                <a:latin typeface="Arial"/>
                <a:ea typeface="Arial"/>
                <a:cs typeface="Arial"/>
              </a:rPr>
              <a:t>Uniform segmentation and provenance</a:t>
            </a:r>
          </a:p>
        </p:txBody>
      </p:sp>
      <p:sp>
        <p:nvSpPr>
          <p:cNvPr id="2" name="">
            <a:extLst xmlns:a="http://schemas.openxmlformats.org/drawingml/2006/main">
              <a:ext uri="{FF2B5EF4-FFF2-40B4-BE49-F238E27FC236}">
                <a16:creationId xmlns:a16="http://schemas.microsoft.com/office/drawing/2014/main" id="{5C2780D1-DB62-439C-86EE-3DCF4B4FB854}"/>
              </a:ext>
            </a:extLst>
          </p:cNvPr>
          <p:cNvSpPr>
            <a:spLocks xmlns:a="http://schemas.openxmlformats.org/drawingml/2006/main" noGrp="1"/>
          </p:cNvSpPr>
          <p:nvPr/>
        </p:nvSpPr>
        <p:spPr>
          <a:xfrm xmlns:a="http://schemas.openxmlformats.org/drawingml/2006/main">
            <a:off x="685800" y="637222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4D606C"/>
                </a:solidFill>
                <a:latin typeface="Arial"/>
                <a:ea typeface="Arial"/>
                <a:cs typeface="Arial"/>
              </a:defRPr>
            </a:defPPr>
            <a:lvl1pPr>
              <a:buNone/>
              <a:defRPr sz="1800" b="0">
                <a:solidFill>
                  <a:srgbClr val="4D606C"/>
                </a:solidFill>
                <a:latin typeface="Arial"/>
                <a:ea typeface="Arial"/>
                <a:cs typeface="Arial"/>
              </a:defRPr>
            </a:lvl1pPr>
            <a:lvl2pPr>
              <a:buNone/>
              <a:defRPr sz="1800" b="0">
                <a:solidFill>
                  <a:srgbClr val="4D606C"/>
                </a:solidFill>
                <a:latin typeface="Arial"/>
                <a:ea typeface="Arial"/>
                <a:cs typeface="Arial"/>
              </a:defRPr>
            </a:lvl2pPr>
            <a:lvl3pPr>
              <a:buNone/>
              <a:defRPr sz="1800" b="0">
                <a:solidFill>
                  <a:srgbClr val="4D606C"/>
                </a:solidFill>
                <a:latin typeface="Arial"/>
                <a:ea typeface="Arial"/>
                <a:cs typeface="Arial"/>
              </a:defRPr>
            </a:lvl3pPr>
            <a:lvl4pPr>
              <a:buNone/>
              <a:defRPr sz="1800" b="0">
                <a:solidFill>
                  <a:srgbClr val="4D606C"/>
                </a:solidFill>
                <a:latin typeface="Arial"/>
                <a:ea typeface="Arial"/>
                <a:cs typeface="Arial"/>
              </a:defRPr>
            </a:lvl4pPr>
            <a:lvl5pPr>
              <a:buNone/>
              <a:defRPr sz="1800" b="0">
                <a:solidFill>
                  <a:srgbClr val="4D606C"/>
                </a:solidFill>
                <a:latin typeface="Arial"/>
                <a:ea typeface="Arial"/>
                <a:cs typeface="Arial"/>
              </a:defRPr>
            </a:lvl5pPr>
            <a:lvl6pPr>
              <a:buNone/>
              <a:defRPr sz="1800" b="0">
                <a:solidFill>
                  <a:srgbClr val="4D606C"/>
                </a:solidFill>
                <a:latin typeface="Arial"/>
                <a:ea typeface="Arial"/>
                <a:cs typeface="Arial"/>
              </a:defRPr>
            </a:lvl6pPr>
            <a:lvl7pPr>
              <a:buNone/>
              <a:defRPr sz="1800" b="0">
                <a:solidFill>
                  <a:srgbClr val="4D606C"/>
                </a:solidFill>
                <a:latin typeface="Arial"/>
                <a:ea typeface="Arial"/>
                <a:cs typeface="Arial"/>
              </a:defRPr>
            </a:lvl7pPr>
            <a:lvl8pPr>
              <a:buNone/>
              <a:defRPr sz="1800" b="0">
                <a:solidFill>
                  <a:srgbClr val="4D606C"/>
                </a:solidFill>
                <a:latin typeface="Arial"/>
                <a:ea typeface="Arial"/>
                <a:cs typeface="Arial"/>
              </a:defRPr>
            </a:lvl8pPr>
            <a:lvl9pPr>
              <a:buNone/>
              <a:defRPr sz="1800" b="0">
                <a:solidFill>
                  <a:srgbClr val="4D606C"/>
                </a:solidFill>
                <a:latin typeface="Arial"/>
                <a:ea typeface="Arial"/>
                <a:cs typeface="Arial"/>
              </a:defRPr>
            </a:lvl9pPr>
          </a:lstStyle>
          <a:p xmlns:a="http://schemas.openxmlformats.org/drawingml/2006/main">
            <a:pPr>
              <a:buNone/>
              <a:defRPr sz="1800" b="0">
                <a:solidFill>
                  <a:srgbClr val="4D606C"/>
                </a:solidFill>
                <a:latin typeface="Arial"/>
                <a:ea typeface="Arial"/>
                <a:cs typeface="Arial"/>
              </a:defRPr>
            </a:pPr>
            <a:r>
              <a:rPr sz="1800" b="0">
                <a:solidFill>
                  <a:srgbClr val="4D606C"/>
                </a:solidFill>
                <a:latin typeface="Arial"/>
                <a:ea typeface="Arial"/>
                <a:cs typeface="Arial"/>
              </a:rPr>
              <a:t>Human labels / automatic answer judging     4/12</a:t>
            </a:r>
          </a:p>
        </p:txBody>
      </p:sp>
      <p:graphicFrame>
        <p:nvGraphicFramePr>
          <p:cNvPr id="3" name="">
            <a:extLst xmlns:a="http://schemas.openxmlformats.org/drawingml/2006/main">
              <a:ext uri="{FF2B5EF4-FFF2-40B4-BE49-F238E27FC236}">
                <a16:creationId xmlns:a16="http://schemas.microsoft.com/office/drawing/2014/main" id="{D3F19152-63D9-4CBE-8738-48E62C7C9ED9}"/>
              </a:ext>
            </a:extLst>
          </p:cNvPr>
          <p:cNvGraphicFramePr/>
          <p:nvPr/>
        </p:nvGraphicFramePr>
        <p:xfrm>
          <a:off xmlns:a="http://schemas.openxmlformats.org/drawingml/2006/main" x="685800" y="1647825"/>
          <a:ext xmlns:a="http://schemas.openxmlformats.org/drawingml/2006/main" cx="10820400" cy="3143250"/>
        </p:xfrm>
        <a:graphic xmlns:a="http://schemas.openxmlformats.org/drawingml/2006/main">
          <a:graphicData uri="http://schemas.openxmlformats.org/drawingml/2006/table">
            <a:tbl>
              <a:tblPr firstRow="1" bandRow="0"/>
              <a:tblGrid>
                <a:gridCol w="4819650"/>
                <a:gridCol w="1714500"/>
                <a:gridCol w="4286250"/>
              </a:tblGrid>
              <a:tr h="628650">
                <a:tc>
                  <a:txBody>
                    <a:bodyPr/>
                    <a:lstStyle/>
                    <a:p>
                      <a:r>
                        <a:rPr sz="2100" b="1">
                          <a:solidFill>
                            <a:srgbClr val="184E6A"/>
                          </a:solidFill>
                          <a:latin typeface="Arial"/>
                          <a:ea typeface="Arial"/>
                          <a:cs typeface="Arial"/>
                        </a:rPr>
                        <a:t>Policy</a:t>
                      </a:r>
                    </a:p>
                  </a:txBody>
                  <a:tcPr marL="114300" marR="114300" marT="76200" marB="76200"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2100" b="1">
                          <a:solidFill>
                            <a:srgbClr val="184E6A"/>
                          </a:solidFill>
                          <a:latin typeface="Arial"/>
                          <a:ea typeface="Arial"/>
                          <a:cs typeface="Arial"/>
                        </a:rPr>
                        <a:t>Words</a:t>
                      </a:r>
                    </a:p>
                  </a:txBody>
                  <a:tcPr marL="114300" marR="114300" marT="76200" marB="762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2100" b="1">
                          <a:solidFill>
                            <a:srgbClr val="184E6A"/>
                          </a:solidFill>
                          <a:latin typeface="Arial"/>
                          <a:ea typeface="Arial"/>
                          <a:cs typeface="Arial"/>
                        </a:rPr>
                        <a:t>Role</a:t>
                      </a:r>
                    </a:p>
                  </a:txBody>
                  <a:tcPr marL="114300" marR="114300" marT="76200" marB="762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r>
              <a:tr h="628650">
                <a:tc>
                  <a:txBody>
                    <a:bodyPr/>
                    <a:lstStyle/>
                    <a:p>
                      <a:r>
                        <a:rPr sz="2100">
                          <a:solidFill>
                            <a:srgbClr val="172C3B"/>
                          </a:solidFill>
                          <a:latin typeface="Arial"/>
                          <a:ea typeface="Arial"/>
                          <a:cs typeface="Arial"/>
                        </a:rPr>
                        <a:t>Target passage length</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160</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Preferred length</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r h="628650">
                <a:tc>
                  <a:txBody>
                    <a:bodyPr/>
                    <a:lstStyle/>
                    <a:p>
                      <a:r>
                        <a:rPr sz="2100">
                          <a:solidFill>
                            <a:srgbClr val="172C3B"/>
                          </a:solidFill>
                          <a:latin typeface="Arial"/>
                          <a:ea typeface="Arial"/>
                          <a:cs typeface="Arial"/>
                        </a:rPr>
                        <a:t>Minimum passage length</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65</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Soft bound</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r h="628650">
                <a:tc>
                  <a:txBody>
                    <a:bodyPr/>
                    <a:lstStyle/>
                    <a:p>
                      <a:r>
                        <a:rPr sz="2100">
                          <a:solidFill>
                            <a:srgbClr val="172C3B"/>
                          </a:solidFill>
                          <a:latin typeface="Arial"/>
                          <a:ea typeface="Arial"/>
                          <a:cs typeface="Arial"/>
                        </a:rPr>
                        <a:t>Maximum passage length</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240</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Soft bound</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r h="628650">
                <a:tc>
                  <a:txBody>
                    <a:bodyPr/>
                    <a:lstStyle/>
                    <a:p>
                      <a:r>
                        <a:rPr sz="2100">
                          <a:solidFill>
                            <a:srgbClr val="172C3B"/>
                          </a:solidFill>
                          <a:latin typeface="Arial"/>
                          <a:ea typeface="Arial"/>
                          <a:cs typeface="Arial"/>
                        </a:rPr>
                        <a:t>Maximum contextual span</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480</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Context cap</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2472E58-C13E-4841-86E1-265EC107CEDB}"/>
              </a:ext>
            </a:extLst>
          </p:cNvPr>
          <p:cNvSpPr>
            <a:spLocks xmlns:a="http://schemas.openxmlformats.org/drawingml/2006/main" noGrp="1"/>
          </p:cNvSpPr>
          <p:nvPr/>
        </p:nvSpPr>
        <p:spPr>
          <a:xfrm xmlns:a="http://schemas.openxmlformats.org/drawingml/2006/main">
            <a:off x="685800" y="511492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00" b="0">
                <a:solidFill>
                  <a:srgbClr val="172C3B"/>
                </a:solidFill>
                <a:latin typeface="Arial"/>
                <a:ea typeface="Arial"/>
                <a:cs typeface="Arial"/>
              </a:defRPr>
            </a:defPPr>
            <a:lvl1pPr>
              <a:buNone/>
              <a:defRPr sz="2100" b="0">
                <a:solidFill>
                  <a:srgbClr val="172C3B"/>
                </a:solidFill>
                <a:latin typeface="Arial"/>
                <a:ea typeface="Arial"/>
                <a:cs typeface="Arial"/>
              </a:defRPr>
            </a:lvl1pPr>
            <a:lvl2pPr>
              <a:buNone/>
              <a:defRPr sz="2100" b="0">
                <a:solidFill>
                  <a:srgbClr val="172C3B"/>
                </a:solidFill>
                <a:latin typeface="Arial"/>
                <a:ea typeface="Arial"/>
                <a:cs typeface="Arial"/>
              </a:defRPr>
            </a:lvl2pPr>
            <a:lvl3pPr>
              <a:buNone/>
              <a:defRPr sz="2100" b="0">
                <a:solidFill>
                  <a:srgbClr val="172C3B"/>
                </a:solidFill>
                <a:latin typeface="Arial"/>
                <a:ea typeface="Arial"/>
                <a:cs typeface="Arial"/>
              </a:defRPr>
            </a:lvl3pPr>
            <a:lvl4pPr>
              <a:buNone/>
              <a:defRPr sz="2100" b="0">
                <a:solidFill>
                  <a:srgbClr val="172C3B"/>
                </a:solidFill>
                <a:latin typeface="Arial"/>
                <a:ea typeface="Arial"/>
                <a:cs typeface="Arial"/>
              </a:defRPr>
            </a:lvl4pPr>
            <a:lvl5pPr>
              <a:buNone/>
              <a:defRPr sz="2100" b="0">
                <a:solidFill>
                  <a:srgbClr val="172C3B"/>
                </a:solidFill>
                <a:latin typeface="Arial"/>
                <a:ea typeface="Arial"/>
                <a:cs typeface="Arial"/>
              </a:defRPr>
            </a:lvl5pPr>
            <a:lvl6pPr>
              <a:buNone/>
              <a:defRPr sz="2100" b="0">
                <a:solidFill>
                  <a:srgbClr val="172C3B"/>
                </a:solidFill>
                <a:latin typeface="Arial"/>
                <a:ea typeface="Arial"/>
                <a:cs typeface="Arial"/>
              </a:defRPr>
            </a:lvl6pPr>
            <a:lvl7pPr>
              <a:buNone/>
              <a:defRPr sz="2100" b="0">
                <a:solidFill>
                  <a:srgbClr val="172C3B"/>
                </a:solidFill>
                <a:latin typeface="Arial"/>
                <a:ea typeface="Arial"/>
                <a:cs typeface="Arial"/>
              </a:defRPr>
            </a:lvl7pPr>
            <a:lvl8pPr>
              <a:buNone/>
              <a:defRPr sz="2100" b="0">
                <a:solidFill>
                  <a:srgbClr val="172C3B"/>
                </a:solidFill>
                <a:latin typeface="Arial"/>
                <a:ea typeface="Arial"/>
                <a:cs typeface="Arial"/>
              </a:defRPr>
            </a:lvl8pPr>
            <a:lvl9pPr>
              <a:buNone/>
              <a:defRPr sz="2100" b="0">
                <a:solidFill>
                  <a:srgbClr val="172C3B"/>
                </a:solidFill>
                <a:latin typeface="Arial"/>
                <a:ea typeface="Arial"/>
                <a:cs typeface="Arial"/>
              </a:defRPr>
            </a:lvl9pPr>
          </a:lstStyle>
          <a:p xmlns:a="http://schemas.openxmlformats.org/drawingml/2006/main">
            <a:pPr>
              <a:buNone/>
              <a:defRPr sz="2100" b="0">
                <a:solidFill>
                  <a:srgbClr val="172C3B"/>
                </a:solidFill>
                <a:latin typeface="Arial"/>
                <a:ea typeface="Arial"/>
                <a:cs typeface="Arial"/>
              </a:defRPr>
            </a:pPr>
            <a:r>
              <a:rPr sz="2100" b="0">
                <a:solidFill>
                  <a:srgbClr val="172C3B"/>
                </a:solidFill>
                <a:latin typeface="Arial"/>
                <a:ea typeface="Arial"/>
                <a:cs typeface="Arial"/>
              </a:rPr>
              <a:t>Sentence boundaries and local context govern exceptions.</a:t>
            </a:r>
          </a:p>
        </p:txBody>
      </p:sp>
      <p:sp>
        <p:nvSpPr>
          <p:cNvPr id="5" name="">
            <a:extLst xmlns:a="http://schemas.openxmlformats.org/drawingml/2006/main">
              <a:ext uri="{FF2B5EF4-FFF2-40B4-BE49-F238E27FC236}">
                <a16:creationId xmlns:a16="http://schemas.microsoft.com/office/drawing/2014/main" id="{3524E972-B6F2-4603-A4E5-099307478125}"/>
              </a:ext>
            </a:extLst>
          </p:cNvPr>
          <p:cNvSpPr>
            <a:spLocks xmlns:a="http://schemas.openxmlformats.org/drawingml/2006/main" noGrp="1"/>
          </p:cNvSpPr>
          <p:nvPr/>
        </p:nvSpPr>
        <p:spPr>
          <a:xfrm xmlns:a="http://schemas.openxmlformats.org/drawingml/2006/main">
            <a:off x="685800" y="566737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00" b="0">
                <a:solidFill>
                  <a:srgbClr val="172C3B"/>
                </a:solidFill>
                <a:latin typeface="Arial"/>
                <a:ea typeface="Arial"/>
                <a:cs typeface="Arial"/>
              </a:defRPr>
            </a:defPPr>
            <a:lvl1pPr>
              <a:buNone/>
              <a:defRPr sz="2100" b="0">
                <a:solidFill>
                  <a:srgbClr val="172C3B"/>
                </a:solidFill>
                <a:latin typeface="Arial"/>
                <a:ea typeface="Arial"/>
                <a:cs typeface="Arial"/>
              </a:defRPr>
            </a:lvl1pPr>
            <a:lvl2pPr>
              <a:buNone/>
              <a:defRPr sz="2100" b="0">
                <a:solidFill>
                  <a:srgbClr val="172C3B"/>
                </a:solidFill>
                <a:latin typeface="Arial"/>
                <a:ea typeface="Arial"/>
                <a:cs typeface="Arial"/>
              </a:defRPr>
            </a:lvl2pPr>
            <a:lvl3pPr>
              <a:buNone/>
              <a:defRPr sz="2100" b="0">
                <a:solidFill>
                  <a:srgbClr val="172C3B"/>
                </a:solidFill>
                <a:latin typeface="Arial"/>
                <a:ea typeface="Arial"/>
                <a:cs typeface="Arial"/>
              </a:defRPr>
            </a:lvl3pPr>
            <a:lvl4pPr>
              <a:buNone/>
              <a:defRPr sz="2100" b="0">
                <a:solidFill>
                  <a:srgbClr val="172C3B"/>
                </a:solidFill>
                <a:latin typeface="Arial"/>
                <a:ea typeface="Arial"/>
                <a:cs typeface="Arial"/>
              </a:defRPr>
            </a:lvl4pPr>
            <a:lvl5pPr>
              <a:buNone/>
              <a:defRPr sz="2100" b="0">
                <a:solidFill>
                  <a:srgbClr val="172C3B"/>
                </a:solidFill>
                <a:latin typeface="Arial"/>
                <a:ea typeface="Arial"/>
                <a:cs typeface="Arial"/>
              </a:defRPr>
            </a:lvl5pPr>
            <a:lvl6pPr>
              <a:buNone/>
              <a:defRPr sz="2100" b="0">
                <a:solidFill>
                  <a:srgbClr val="172C3B"/>
                </a:solidFill>
                <a:latin typeface="Arial"/>
                <a:ea typeface="Arial"/>
                <a:cs typeface="Arial"/>
              </a:defRPr>
            </a:lvl6pPr>
            <a:lvl7pPr>
              <a:buNone/>
              <a:defRPr sz="2100" b="0">
                <a:solidFill>
                  <a:srgbClr val="172C3B"/>
                </a:solidFill>
                <a:latin typeface="Arial"/>
                <a:ea typeface="Arial"/>
                <a:cs typeface="Arial"/>
              </a:defRPr>
            </a:lvl7pPr>
            <a:lvl8pPr>
              <a:buNone/>
              <a:defRPr sz="2100" b="0">
                <a:solidFill>
                  <a:srgbClr val="172C3B"/>
                </a:solidFill>
                <a:latin typeface="Arial"/>
                <a:ea typeface="Arial"/>
                <a:cs typeface="Arial"/>
              </a:defRPr>
            </a:lvl8pPr>
            <a:lvl9pPr>
              <a:buNone/>
              <a:defRPr sz="2100" b="0">
                <a:solidFill>
                  <a:srgbClr val="172C3B"/>
                </a:solidFill>
                <a:latin typeface="Arial"/>
                <a:ea typeface="Arial"/>
                <a:cs typeface="Arial"/>
              </a:defRPr>
            </a:lvl9pPr>
          </a:lstStyle>
          <a:p xmlns:a="http://schemas.openxmlformats.org/drawingml/2006/main">
            <a:pPr>
              <a:buNone/>
              <a:defRPr sz="2100" b="0">
                <a:solidFill>
                  <a:srgbClr val="172C3B"/>
                </a:solidFill>
                <a:latin typeface="Arial"/>
                <a:ea typeface="Arial"/>
                <a:cs typeface="Arial"/>
              </a:defRPr>
            </a:pPr>
            <a:r>
              <a:rPr sz="2100" b="0">
                <a:solidFill>
                  <a:srgbClr val="172C3B"/>
                </a:solidFill>
                <a:latin typeface="Arial"/>
                <a:ea typeface="Arial"/>
                <a:cs typeface="Arial"/>
              </a:rPr>
              <a:t>Every selected staging passage retains its source page and exact native offsets.</a:t>
            </a:r>
          </a:p>
        </p:txBody>
      </p:sp>
    </p:spTree>
    <p:extLst>
      <p:ext uri="{BB962C8B-B14F-4D97-AF65-F5344CB8AC3E}">
        <p14:creationId xmlns:p14="http://schemas.microsoft.com/office/powerpoint/2010/main" val="18032570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D04FD2-EE64-4A50-8962-8537B422B975}"/>
              </a:ext>
            </a:extLst>
          </p:cNvPr>
          <p:cNvSpPr>
            <a:spLocks xmlns:a="http://schemas.openxmlformats.org/drawingml/2006/main" noGrp="1"/>
          </p:cNvSpPr>
          <p:nvPr/>
        </p:nvSpPr>
        <p:spPr>
          <a:xfrm xmlns:a="http://schemas.openxmlformats.org/drawingml/2006/main">
            <a:off x="685800" y="49530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2C3B"/>
                </a:solidFill>
                <a:latin typeface="Arial"/>
                <a:ea typeface="Arial"/>
                <a:cs typeface="Arial"/>
              </a:defRPr>
            </a:defPPr>
            <a:lvl1pPr>
              <a:buNone/>
              <a:defRPr sz="3300" b="1">
                <a:solidFill>
                  <a:srgbClr val="172C3B"/>
                </a:solidFill>
                <a:latin typeface="Arial"/>
                <a:ea typeface="Arial"/>
                <a:cs typeface="Arial"/>
              </a:defRPr>
            </a:lvl1pPr>
            <a:lvl2pPr>
              <a:buNone/>
              <a:defRPr sz="3300" b="1">
                <a:solidFill>
                  <a:srgbClr val="172C3B"/>
                </a:solidFill>
                <a:latin typeface="Arial"/>
                <a:ea typeface="Arial"/>
                <a:cs typeface="Arial"/>
              </a:defRPr>
            </a:lvl2pPr>
            <a:lvl3pPr>
              <a:buNone/>
              <a:defRPr sz="3300" b="1">
                <a:solidFill>
                  <a:srgbClr val="172C3B"/>
                </a:solidFill>
                <a:latin typeface="Arial"/>
                <a:ea typeface="Arial"/>
                <a:cs typeface="Arial"/>
              </a:defRPr>
            </a:lvl3pPr>
            <a:lvl4pPr>
              <a:buNone/>
              <a:defRPr sz="3300" b="1">
                <a:solidFill>
                  <a:srgbClr val="172C3B"/>
                </a:solidFill>
                <a:latin typeface="Arial"/>
                <a:ea typeface="Arial"/>
                <a:cs typeface="Arial"/>
              </a:defRPr>
            </a:lvl4pPr>
            <a:lvl5pPr>
              <a:buNone/>
              <a:defRPr sz="3300" b="1">
                <a:solidFill>
                  <a:srgbClr val="172C3B"/>
                </a:solidFill>
                <a:latin typeface="Arial"/>
                <a:ea typeface="Arial"/>
                <a:cs typeface="Arial"/>
              </a:defRPr>
            </a:lvl5pPr>
            <a:lvl6pPr>
              <a:buNone/>
              <a:defRPr sz="3300" b="1">
                <a:solidFill>
                  <a:srgbClr val="172C3B"/>
                </a:solidFill>
                <a:latin typeface="Arial"/>
                <a:ea typeface="Arial"/>
                <a:cs typeface="Arial"/>
              </a:defRPr>
            </a:lvl6pPr>
            <a:lvl7pPr>
              <a:buNone/>
              <a:defRPr sz="3300" b="1">
                <a:solidFill>
                  <a:srgbClr val="172C3B"/>
                </a:solidFill>
                <a:latin typeface="Arial"/>
                <a:ea typeface="Arial"/>
                <a:cs typeface="Arial"/>
              </a:defRPr>
            </a:lvl7pPr>
            <a:lvl8pPr>
              <a:buNone/>
              <a:defRPr sz="3300" b="1">
                <a:solidFill>
                  <a:srgbClr val="172C3B"/>
                </a:solidFill>
                <a:latin typeface="Arial"/>
                <a:ea typeface="Arial"/>
                <a:cs typeface="Arial"/>
              </a:defRPr>
            </a:lvl8pPr>
            <a:lvl9pPr>
              <a:buNone/>
              <a:defRPr sz="3300" b="1">
                <a:solidFill>
                  <a:srgbClr val="172C3B"/>
                </a:solidFill>
                <a:latin typeface="Arial"/>
                <a:ea typeface="Arial"/>
                <a:cs typeface="Arial"/>
              </a:defRPr>
            </a:lvl9pPr>
          </a:lstStyle>
          <a:p xmlns:a="http://schemas.openxmlformats.org/drawingml/2006/main">
            <a:pPr>
              <a:buNone/>
              <a:defRPr sz="3300" b="1">
                <a:solidFill>
                  <a:srgbClr val="172C3B"/>
                </a:solidFill>
                <a:latin typeface="Arial"/>
                <a:ea typeface="Arial"/>
                <a:cs typeface="Arial"/>
              </a:defRPr>
            </a:pPr>
            <a:r>
              <a:rPr sz="3300" b="1">
                <a:solidFill>
                  <a:srgbClr val="172C3B"/>
                </a:solidFill>
                <a:latin typeface="Arial"/>
                <a:ea typeface="Arial"/>
                <a:cs typeface="Arial"/>
              </a:rPr>
              <a:t>Keyword, dense and hybrid retrieval</a:t>
            </a:r>
          </a:p>
        </p:txBody>
      </p:sp>
      <p:sp>
        <p:nvSpPr>
          <p:cNvPr id="2" name="">
            <a:extLst xmlns:a="http://schemas.openxmlformats.org/drawingml/2006/main">
              <a:ext uri="{FF2B5EF4-FFF2-40B4-BE49-F238E27FC236}">
                <a16:creationId xmlns:a16="http://schemas.microsoft.com/office/drawing/2014/main" id="{C3721820-9D0D-4EF1-87C6-D20A8D8B698F}"/>
              </a:ext>
            </a:extLst>
          </p:cNvPr>
          <p:cNvSpPr>
            <a:spLocks xmlns:a="http://schemas.openxmlformats.org/drawingml/2006/main" noGrp="1"/>
          </p:cNvSpPr>
          <p:nvPr/>
        </p:nvSpPr>
        <p:spPr>
          <a:xfrm xmlns:a="http://schemas.openxmlformats.org/drawingml/2006/main">
            <a:off x="685800" y="637222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4D606C"/>
                </a:solidFill>
                <a:latin typeface="Arial"/>
                <a:ea typeface="Arial"/>
                <a:cs typeface="Arial"/>
              </a:defRPr>
            </a:defPPr>
            <a:lvl1pPr>
              <a:buNone/>
              <a:defRPr sz="1800" b="0">
                <a:solidFill>
                  <a:srgbClr val="4D606C"/>
                </a:solidFill>
                <a:latin typeface="Arial"/>
                <a:ea typeface="Arial"/>
                <a:cs typeface="Arial"/>
              </a:defRPr>
            </a:lvl1pPr>
            <a:lvl2pPr>
              <a:buNone/>
              <a:defRPr sz="1800" b="0">
                <a:solidFill>
                  <a:srgbClr val="4D606C"/>
                </a:solidFill>
                <a:latin typeface="Arial"/>
                <a:ea typeface="Arial"/>
                <a:cs typeface="Arial"/>
              </a:defRPr>
            </a:lvl2pPr>
            <a:lvl3pPr>
              <a:buNone/>
              <a:defRPr sz="1800" b="0">
                <a:solidFill>
                  <a:srgbClr val="4D606C"/>
                </a:solidFill>
                <a:latin typeface="Arial"/>
                <a:ea typeface="Arial"/>
                <a:cs typeface="Arial"/>
              </a:defRPr>
            </a:lvl3pPr>
            <a:lvl4pPr>
              <a:buNone/>
              <a:defRPr sz="1800" b="0">
                <a:solidFill>
                  <a:srgbClr val="4D606C"/>
                </a:solidFill>
                <a:latin typeface="Arial"/>
                <a:ea typeface="Arial"/>
                <a:cs typeface="Arial"/>
              </a:defRPr>
            </a:lvl4pPr>
            <a:lvl5pPr>
              <a:buNone/>
              <a:defRPr sz="1800" b="0">
                <a:solidFill>
                  <a:srgbClr val="4D606C"/>
                </a:solidFill>
                <a:latin typeface="Arial"/>
                <a:ea typeface="Arial"/>
                <a:cs typeface="Arial"/>
              </a:defRPr>
            </a:lvl5pPr>
            <a:lvl6pPr>
              <a:buNone/>
              <a:defRPr sz="1800" b="0">
                <a:solidFill>
                  <a:srgbClr val="4D606C"/>
                </a:solidFill>
                <a:latin typeface="Arial"/>
                <a:ea typeface="Arial"/>
                <a:cs typeface="Arial"/>
              </a:defRPr>
            </a:lvl6pPr>
            <a:lvl7pPr>
              <a:buNone/>
              <a:defRPr sz="1800" b="0">
                <a:solidFill>
                  <a:srgbClr val="4D606C"/>
                </a:solidFill>
                <a:latin typeface="Arial"/>
                <a:ea typeface="Arial"/>
                <a:cs typeface="Arial"/>
              </a:defRPr>
            </a:lvl7pPr>
            <a:lvl8pPr>
              <a:buNone/>
              <a:defRPr sz="1800" b="0">
                <a:solidFill>
                  <a:srgbClr val="4D606C"/>
                </a:solidFill>
                <a:latin typeface="Arial"/>
                <a:ea typeface="Arial"/>
                <a:cs typeface="Arial"/>
              </a:defRPr>
            </a:lvl8pPr>
            <a:lvl9pPr>
              <a:buNone/>
              <a:defRPr sz="1800" b="0">
                <a:solidFill>
                  <a:srgbClr val="4D606C"/>
                </a:solidFill>
                <a:latin typeface="Arial"/>
                <a:ea typeface="Arial"/>
                <a:cs typeface="Arial"/>
              </a:defRPr>
            </a:lvl9pPr>
          </a:lstStyle>
          <a:p xmlns:a="http://schemas.openxmlformats.org/drawingml/2006/main">
            <a:pPr>
              <a:buNone/>
              <a:defRPr sz="1800" b="0">
                <a:solidFill>
                  <a:srgbClr val="4D606C"/>
                </a:solidFill>
                <a:latin typeface="Arial"/>
                <a:ea typeface="Arial"/>
                <a:cs typeface="Arial"/>
              </a:defRPr>
            </a:pPr>
            <a:r>
              <a:rPr sz="1800" b="0">
                <a:solidFill>
                  <a:srgbClr val="4D606C"/>
                </a:solidFill>
                <a:latin typeface="Arial"/>
                <a:ea typeface="Arial"/>
                <a:cs typeface="Arial"/>
              </a:rPr>
              <a:t>Human labels / automatic answer judging     5/12</a:t>
            </a:r>
          </a:p>
        </p:txBody>
      </p:sp>
      <p:graphicFrame>
        <p:nvGraphicFramePr>
          <p:cNvPr id="3" name="">
            <a:extLst xmlns:a="http://schemas.openxmlformats.org/drawingml/2006/main">
              <a:ext uri="{FF2B5EF4-FFF2-40B4-BE49-F238E27FC236}">
                <a16:creationId xmlns:a16="http://schemas.microsoft.com/office/drawing/2014/main" id="{B1C9A4A4-3AEA-41B1-9B11-F1254B014A95}"/>
              </a:ext>
            </a:extLst>
          </p:cNvPr>
          <p:cNvGraphicFramePr/>
          <p:nvPr/>
        </p:nvGraphicFramePr>
        <p:xfrm>
          <a:off xmlns:a="http://schemas.openxmlformats.org/drawingml/2006/main" x="685800" y="1676400"/>
          <a:ext xmlns:a="http://schemas.openxmlformats.org/drawingml/2006/main" cx="10820400" cy="2905125"/>
        </p:xfrm>
        <a:graphic xmlns:a="http://schemas.openxmlformats.org/drawingml/2006/main">
          <a:graphicData uri="http://schemas.openxmlformats.org/drawingml/2006/table">
            <a:tbl>
              <a:tblPr firstRow="1" bandRow="0"/>
              <a:tblGrid>
                <a:gridCol w="2428875"/>
                <a:gridCol w="5143500"/>
                <a:gridCol w="3248025"/>
              </a:tblGrid>
              <a:tr h="726281">
                <a:tc>
                  <a:txBody>
                    <a:bodyPr/>
                    <a:lstStyle/>
                    <a:p>
                      <a:r>
                        <a:rPr sz="2100" b="1">
                          <a:solidFill>
                            <a:srgbClr val="184E6A"/>
                          </a:solidFill>
                          <a:latin typeface="Arial"/>
                          <a:ea typeface="Arial"/>
                          <a:cs typeface="Arial"/>
                        </a:rPr>
                        <a:t>Method</a:t>
                      </a:r>
                    </a:p>
                  </a:txBody>
                  <a:tcPr marL="114300" marR="114300" marT="76200" marB="76200"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2100" b="1">
                          <a:solidFill>
                            <a:srgbClr val="184E6A"/>
                          </a:solidFill>
                          <a:latin typeface="Arial"/>
                          <a:ea typeface="Arial"/>
                          <a:cs typeface="Arial"/>
                        </a:rPr>
                        <a:t>Representation</a:t>
                      </a:r>
                    </a:p>
                  </a:txBody>
                  <a:tcPr marL="114300" marR="114300" marT="76200" marB="762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2100" b="1">
                          <a:solidFill>
                            <a:srgbClr val="184E6A"/>
                          </a:solidFill>
                          <a:latin typeface="Arial"/>
                          <a:ea typeface="Arial"/>
                          <a:cs typeface="Arial"/>
                        </a:rPr>
                        <a:t>Ranking</a:t>
                      </a:r>
                    </a:p>
                  </a:txBody>
                  <a:tcPr marL="114300" marR="114300" marT="76200" marB="762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r>
              <a:tr h="726281">
                <a:tc>
                  <a:txBody>
                    <a:bodyPr/>
                    <a:lstStyle/>
                    <a:p>
                      <a:r>
                        <a:rPr sz="2100">
                          <a:solidFill>
                            <a:srgbClr val="172C3B"/>
                          </a:solidFill>
                          <a:latin typeface="Arial"/>
                          <a:ea typeface="Arial"/>
                          <a:cs typeface="Arial"/>
                        </a:rPr>
                        <a:t>BM25</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Keyword statistics</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Lexical relevance</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r h="726281">
                <a:tc>
                  <a:txBody>
                    <a:bodyPr/>
                    <a:lstStyle/>
                    <a:p>
                      <a:r>
                        <a:rPr sz="2100">
                          <a:solidFill>
                            <a:srgbClr val="172C3B"/>
                          </a:solidFill>
                          <a:latin typeface="Arial"/>
                          <a:ea typeface="Arial"/>
                          <a:cs typeface="Arial"/>
                        </a:rPr>
                        <a:t>Dense</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BAAI/bge-small-en-v1.5</a:t>
                      </a:r>
                    </a:p>
                    <a:p>
                      <a:r>
                        <a:rPr sz="2100">
                          <a:solidFill>
                            <a:srgbClr val="172C3B"/>
                          </a:solidFill>
                          <a:latin typeface="Arial"/>
                          <a:ea typeface="Arial"/>
                          <a:cs typeface="Arial"/>
                        </a:rPr>
                        <a:t>384 dimensions</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Vector similarity</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r h="726281">
                <a:tc>
                  <a:txBody>
                    <a:bodyPr/>
                    <a:lstStyle/>
                    <a:p>
                      <a:r>
                        <a:rPr sz="2100">
                          <a:solidFill>
                            <a:srgbClr val="172C3B"/>
                          </a:solidFill>
                          <a:latin typeface="Arial"/>
                          <a:ea typeface="Arial"/>
                          <a:cs typeface="Arial"/>
                        </a:rPr>
                        <a:t>Hybrid</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BM25 and dense candidates</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Reciprocal rank fusion</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1475154-FABD-49F2-A21E-9D712011424B}"/>
              </a:ext>
            </a:extLst>
          </p:cNvPr>
          <p:cNvSpPr>
            <a:spLocks xmlns:a="http://schemas.openxmlformats.org/drawingml/2006/main" noGrp="1"/>
          </p:cNvSpPr>
          <p:nvPr/>
        </p:nvSpPr>
        <p:spPr>
          <a:xfrm xmlns:a="http://schemas.openxmlformats.org/drawingml/2006/main">
            <a:off x="685800" y="50101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400" b="1">
                <a:solidFill>
                  <a:srgbClr val="172C3B"/>
                </a:solidFill>
                <a:latin typeface="Arial"/>
                <a:ea typeface="Arial"/>
                <a:cs typeface="Arial"/>
              </a:defRPr>
            </a:defPPr>
            <a:lvl1pPr>
              <a:buNone/>
              <a:defRPr sz="2400" b="1">
                <a:solidFill>
                  <a:srgbClr val="172C3B"/>
                </a:solidFill>
                <a:latin typeface="Arial"/>
                <a:ea typeface="Arial"/>
                <a:cs typeface="Arial"/>
              </a:defRPr>
            </a:lvl1pPr>
            <a:lvl2pPr>
              <a:buNone/>
              <a:defRPr sz="2400" b="1">
                <a:solidFill>
                  <a:srgbClr val="172C3B"/>
                </a:solidFill>
                <a:latin typeface="Arial"/>
                <a:ea typeface="Arial"/>
                <a:cs typeface="Arial"/>
              </a:defRPr>
            </a:lvl2pPr>
            <a:lvl3pPr>
              <a:buNone/>
              <a:defRPr sz="2400" b="1">
                <a:solidFill>
                  <a:srgbClr val="172C3B"/>
                </a:solidFill>
                <a:latin typeface="Arial"/>
                <a:ea typeface="Arial"/>
                <a:cs typeface="Arial"/>
              </a:defRPr>
            </a:lvl3pPr>
            <a:lvl4pPr>
              <a:buNone/>
              <a:defRPr sz="2400" b="1">
                <a:solidFill>
                  <a:srgbClr val="172C3B"/>
                </a:solidFill>
                <a:latin typeface="Arial"/>
                <a:ea typeface="Arial"/>
                <a:cs typeface="Arial"/>
              </a:defRPr>
            </a:lvl4pPr>
            <a:lvl5pPr>
              <a:buNone/>
              <a:defRPr sz="2400" b="1">
                <a:solidFill>
                  <a:srgbClr val="172C3B"/>
                </a:solidFill>
                <a:latin typeface="Arial"/>
                <a:ea typeface="Arial"/>
                <a:cs typeface="Arial"/>
              </a:defRPr>
            </a:lvl5pPr>
            <a:lvl6pPr>
              <a:buNone/>
              <a:defRPr sz="2400" b="1">
                <a:solidFill>
                  <a:srgbClr val="172C3B"/>
                </a:solidFill>
                <a:latin typeface="Arial"/>
                <a:ea typeface="Arial"/>
                <a:cs typeface="Arial"/>
              </a:defRPr>
            </a:lvl6pPr>
            <a:lvl7pPr>
              <a:buNone/>
              <a:defRPr sz="2400" b="1">
                <a:solidFill>
                  <a:srgbClr val="172C3B"/>
                </a:solidFill>
                <a:latin typeface="Arial"/>
                <a:ea typeface="Arial"/>
                <a:cs typeface="Arial"/>
              </a:defRPr>
            </a:lvl7pPr>
            <a:lvl8pPr>
              <a:buNone/>
              <a:defRPr sz="2400" b="1">
                <a:solidFill>
                  <a:srgbClr val="172C3B"/>
                </a:solidFill>
                <a:latin typeface="Arial"/>
                <a:ea typeface="Arial"/>
                <a:cs typeface="Arial"/>
              </a:defRPr>
            </a:lvl8pPr>
            <a:lvl9pPr>
              <a:buNone/>
              <a:defRPr sz="2400" b="1">
                <a:solidFill>
                  <a:srgbClr val="172C3B"/>
                </a:solidFill>
                <a:latin typeface="Arial"/>
                <a:ea typeface="Arial"/>
                <a:cs typeface="Arial"/>
              </a:defRPr>
            </a:lvl9pPr>
          </a:lstStyle>
          <a:p xmlns:a="http://schemas.openxmlformats.org/drawingml/2006/main">
            <a:pPr>
              <a:buNone/>
              <a:defRPr sz="2400" b="1">
                <a:solidFill>
                  <a:srgbClr val="172C3B"/>
                </a:solidFill>
                <a:latin typeface="Arial"/>
                <a:ea typeface="Arial"/>
                <a:cs typeface="Arial"/>
              </a:defRPr>
            </a:pPr>
            <a:r>
              <a:rPr sz="2400" b="1">
                <a:solidFill>
                  <a:srgbClr val="172C3B"/>
                </a:solidFill>
                <a:latin typeface="Arial"/>
                <a:ea typeface="Arial"/>
                <a:cs typeface="Arial"/>
              </a:rPr>
              <a:t>RRF score(d) = sum 1 / (60 + rank_m(d))</a:t>
            </a:r>
          </a:p>
        </p:txBody>
      </p:sp>
      <p:sp>
        <p:nvSpPr>
          <p:cNvPr id="5" name="">
            <a:extLst xmlns:a="http://schemas.openxmlformats.org/drawingml/2006/main">
              <a:ext uri="{FF2B5EF4-FFF2-40B4-BE49-F238E27FC236}">
                <a16:creationId xmlns:a16="http://schemas.microsoft.com/office/drawing/2014/main" id="{E223C07C-9AEA-4C94-A35A-B8BD1F298342}"/>
              </a:ext>
            </a:extLst>
          </p:cNvPr>
          <p:cNvSpPr>
            <a:spLocks xmlns:a="http://schemas.openxmlformats.org/drawingml/2006/main" noGrp="1"/>
          </p:cNvSpPr>
          <p:nvPr/>
        </p:nvSpPr>
        <p:spPr>
          <a:xfrm xmlns:a="http://schemas.openxmlformats.org/drawingml/2006/main">
            <a:off x="685800" y="56388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172C3B"/>
                </a:solidFill>
                <a:latin typeface="Arial"/>
                <a:ea typeface="Arial"/>
                <a:cs typeface="Arial"/>
              </a:defRPr>
            </a:defPPr>
            <a:lvl1pPr>
              <a:buNone/>
              <a:defRPr sz="1800" b="0">
                <a:solidFill>
                  <a:srgbClr val="172C3B"/>
                </a:solidFill>
                <a:latin typeface="Arial"/>
                <a:ea typeface="Arial"/>
                <a:cs typeface="Arial"/>
              </a:defRPr>
            </a:lvl1pPr>
            <a:lvl2pPr>
              <a:buNone/>
              <a:defRPr sz="1800" b="0">
                <a:solidFill>
                  <a:srgbClr val="172C3B"/>
                </a:solidFill>
                <a:latin typeface="Arial"/>
                <a:ea typeface="Arial"/>
                <a:cs typeface="Arial"/>
              </a:defRPr>
            </a:lvl2pPr>
            <a:lvl3pPr>
              <a:buNone/>
              <a:defRPr sz="1800" b="0">
                <a:solidFill>
                  <a:srgbClr val="172C3B"/>
                </a:solidFill>
                <a:latin typeface="Arial"/>
                <a:ea typeface="Arial"/>
                <a:cs typeface="Arial"/>
              </a:defRPr>
            </a:lvl3pPr>
            <a:lvl4pPr>
              <a:buNone/>
              <a:defRPr sz="1800" b="0">
                <a:solidFill>
                  <a:srgbClr val="172C3B"/>
                </a:solidFill>
                <a:latin typeface="Arial"/>
                <a:ea typeface="Arial"/>
                <a:cs typeface="Arial"/>
              </a:defRPr>
            </a:lvl4pPr>
            <a:lvl5pPr>
              <a:buNone/>
              <a:defRPr sz="1800" b="0">
                <a:solidFill>
                  <a:srgbClr val="172C3B"/>
                </a:solidFill>
                <a:latin typeface="Arial"/>
                <a:ea typeface="Arial"/>
                <a:cs typeface="Arial"/>
              </a:defRPr>
            </a:lvl5pPr>
            <a:lvl6pPr>
              <a:buNone/>
              <a:defRPr sz="1800" b="0">
                <a:solidFill>
                  <a:srgbClr val="172C3B"/>
                </a:solidFill>
                <a:latin typeface="Arial"/>
                <a:ea typeface="Arial"/>
                <a:cs typeface="Arial"/>
              </a:defRPr>
            </a:lvl6pPr>
            <a:lvl7pPr>
              <a:buNone/>
              <a:defRPr sz="1800" b="0">
                <a:solidFill>
                  <a:srgbClr val="172C3B"/>
                </a:solidFill>
                <a:latin typeface="Arial"/>
                <a:ea typeface="Arial"/>
                <a:cs typeface="Arial"/>
              </a:defRPr>
            </a:lvl7pPr>
            <a:lvl8pPr>
              <a:buNone/>
              <a:defRPr sz="1800" b="0">
                <a:solidFill>
                  <a:srgbClr val="172C3B"/>
                </a:solidFill>
                <a:latin typeface="Arial"/>
                <a:ea typeface="Arial"/>
                <a:cs typeface="Arial"/>
              </a:defRPr>
            </a:lvl8pPr>
            <a:lvl9pPr>
              <a:buNone/>
              <a:defRPr sz="1800" b="0">
                <a:solidFill>
                  <a:srgbClr val="172C3B"/>
                </a:solidFill>
                <a:latin typeface="Arial"/>
                <a:ea typeface="Arial"/>
                <a:cs typeface="Arial"/>
              </a:defRPr>
            </a:lvl9pPr>
          </a:lstStyle>
          <a:p xmlns:a="http://schemas.openxmlformats.org/drawingml/2006/main">
            <a:pPr>
              <a:buNone/>
              <a:defRPr sz="1800" b="0">
                <a:solidFill>
                  <a:srgbClr val="172C3B"/>
                </a:solidFill>
                <a:latin typeface="Arial"/>
                <a:ea typeface="Arial"/>
                <a:cs typeface="Arial"/>
              </a:defRPr>
            </a:pPr>
            <a:r>
              <a:rPr sz="1800" b="0">
                <a:solidFill>
                  <a:srgbClr val="172C3B"/>
                </a:solidFill>
                <a:latin typeface="Arial"/>
                <a:ea typeface="Arial"/>
                <a:cs typeface="Arial"/>
              </a:rPr>
              <a:t>Initial development pool: three top-10 lists, 50 questions.</a:t>
            </a:r>
          </a:p>
        </p:txBody>
      </p:sp>
      <p:sp>
        <p:nvSpPr>
          <p:cNvPr id="6" name="">
            <a:extLst xmlns:a="http://schemas.openxmlformats.org/drawingml/2006/main">
              <a:ext uri="{FF2B5EF4-FFF2-40B4-BE49-F238E27FC236}">
                <a16:creationId xmlns:a16="http://schemas.microsoft.com/office/drawing/2014/main" id="{1EA10E2F-14C2-4BDA-A0BF-71B2CFB95EDC}"/>
              </a:ext>
            </a:extLst>
          </p:cNvPr>
          <p:cNvSpPr>
            <a:spLocks xmlns:a="http://schemas.openxmlformats.org/drawingml/2006/main" noGrp="1"/>
          </p:cNvSpPr>
          <p:nvPr/>
        </p:nvSpPr>
        <p:spPr>
          <a:xfrm xmlns:a="http://schemas.openxmlformats.org/drawingml/2006/main">
            <a:off x="685800" y="59817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172C3B"/>
                </a:solidFill>
                <a:latin typeface="Arial"/>
                <a:ea typeface="Arial"/>
                <a:cs typeface="Arial"/>
              </a:defRPr>
            </a:defPPr>
            <a:lvl1pPr>
              <a:buNone/>
              <a:defRPr sz="1800" b="0">
                <a:solidFill>
                  <a:srgbClr val="172C3B"/>
                </a:solidFill>
                <a:latin typeface="Arial"/>
                <a:ea typeface="Arial"/>
                <a:cs typeface="Arial"/>
              </a:defRPr>
            </a:lvl1pPr>
            <a:lvl2pPr>
              <a:buNone/>
              <a:defRPr sz="1800" b="0">
                <a:solidFill>
                  <a:srgbClr val="172C3B"/>
                </a:solidFill>
                <a:latin typeface="Arial"/>
                <a:ea typeface="Arial"/>
                <a:cs typeface="Arial"/>
              </a:defRPr>
            </a:lvl2pPr>
            <a:lvl3pPr>
              <a:buNone/>
              <a:defRPr sz="1800" b="0">
                <a:solidFill>
                  <a:srgbClr val="172C3B"/>
                </a:solidFill>
                <a:latin typeface="Arial"/>
                <a:ea typeface="Arial"/>
                <a:cs typeface="Arial"/>
              </a:defRPr>
            </a:lvl3pPr>
            <a:lvl4pPr>
              <a:buNone/>
              <a:defRPr sz="1800" b="0">
                <a:solidFill>
                  <a:srgbClr val="172C3B"/>
                </a:solidFill>
                <a:latin typeface="Arial"/>
                <a:ea typeface="Arial"/>
                <a:cs typeface="Arial"/>
              </a:defRPr>
            </a:lvl4pPr>
            <a:lvl5pPr>
              <a:buNone/>
              <a:defRPr sz="1800" b="0">
                <a:solidFill>
                  <a:srgbClr val="172C3B"/>
                </a:solidFill>
                <a:latin typeface="Arial"/>
                <a:ea typeface="Arial"/>
                <a:cs typeface="Arial"/>
              </a:defRPr>
            </a:lvl5pPr>
            <a:lvl6pPr>
              <a:buNone/>
              <a:defRPr sz="1800" b="0">
                <a:solidFill>
                  <a:srgbClr val="172C3B"/>
                </a:solidFill>
                <a:latin typeface="Arial"/>
                <a:ea typeface="Arial"/>
                <a:cs typeface="Arial"/>
              </a:defRPr>
            </a:lvl6pPr>
            <a:lvl7pPr>
              <a:buNone/>
              <a:defRPr sz="1800" b="0">
                <a:solidFill>
                  <a:srgbClr val="172C3B"/>
                </a:solidFill>
                <a:latin typeface="Arial"/>
                <a:ea typeface="Arial"/>
                <a:cs typeface="Arial"/>
              </a:defRPr>
            </a:lvl7pPr>
            <a:lvl8pPr>
              <a:buNone/>
              <a:defRPr sz="1800" b="0">
                <a:solidFill>
                  <a:srgbClr val="172C3B"/>
                </a:solidFill>
                <a:latin typeface="Arial"/>
                <a:ea typeface="Arial"/>
                <a:cs typeface="Arial"/>
              </a:defRPr>
            </a:lvl8pPr>
            <a:lvl9pPr>
              <a:buNone/>
              <a:defRPr sz="1800" b="0">
                <a:solidFill>
                  <a:srgbClr val="172C3B"/>
                </a:solidFill>
                <a:latin typeface="Arial"/>
                <a:ea typeface="Arial"/>
                <a:cs typeface="Arial"/>
              </a:defRPr>
            </a:lvl9pPr>
          </a:lstStyle>
          <a:p xmlns:a="http://schemas.openxmlformats.org/drawingml/2006/main">
            <a:pPr>
              <a:buNone/>
              <a:defRPr sz="1800" b="0">
                <a:solidFill>
                  <a:srgbClr val="172C3B"/>
                </a:solidFill>
                <a:latin typeface="Arial"/>
                <a:ea typeface="Arial"/>
                <a:cs typeface="Arial"/>
              </a:defRPr>
            </a:pPr>
            <a:r>
              <a:rPr sz="1800" b="0">
                <a:solidFill>
                  <a:srgbClr val="172C3B"/>
                </a:solidFill>
                <a:latin typeface="Arial"/>
                <a:ea typeface="Arial"/>
                <a:cs typeface="Arial"/>
              </a:rPr>
              <a:t>Formal pool: six top-five lists, temporal filtering on/off.</a:t>
            </a:r>
          </a:p>
        </p:txBody>
      </p:sp>
    </p:spTree>
    <p:extLst>
      <p:ext uri="{BB962C8B-B14F-4D97-AF65-F5344CB8AC3E}">
        <p14:creationId xmlns:p14="http://schemas.microsoft.com/office/powerpoint/2010/main" val="4774272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2F7320-70AE-447E-9031-CF5C87F968CE}"/>
              </a:ext>
            </a:extLst>
          </p:cNvPr>
          <p:cNvSpPr>
            <a:spLocks xmlns:a="http://schemas.openxmlformats.org/drawingml/2006/main" noGrp="1"/>
          </p:cNvSpPr>
          <p:nvPr/>
        </p:nvSpPr>
        <p:spPr>
          <a:xfrm xmlns:a="http://schemas.openxmlformats.org/drawingml/2006/main">
            <a:off x="685800" y="49530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2C3B"/>
                </a:solidFill>
                <a:latin typeface="Arial"/>
                <a:ea typeface="Arial"/>
                <a:cs typeface="Arial"/>
              </a:defRPr>
            </a:defPPr>
            <a:lvl1pPr>
              <a:buNone/>
              <a:defRPr sz="3300" b="1">
                <a:solidFill>
                  <a:srgbClr val="172C3B"/>
                </a:solidFill>
                <a:latin typeface="Arial"/>
                <a:ea typeface="Arial"/>
                <a:cs typeface="Arial"/>
              </a:defRPr>
            </a:lvl1pPr>
            <a:lvl2pPr>
              <a:buNone/>
              <a:defRPr sz="3300" b="1">
                <a:solidFill>
                  <a:srgbClr val="172C3B"/>
                </a:solidFill>
                <a:latin typeface="Arial"/>
                <a:ea typeface="Arial"/>
                <a:cs typeface="Arial"/>
              </a:defRPr>
            </a:lvl2pPr>
            <a:lvl3pPr>
              <a:buNone/>
              <a:defRPr sz="3300" b="1">
                <a:solidFill>
                  <a:srgbClr val="172C3B"/>
                </a:solidFill>
                <a:latin typeface="Arial"/>
                <a:ea typeface="Arial"/>
                <a:cs typeface="Arial"/>
              </a:defRPr>
            </a:lvl3pPr>
            <a:lvl4pPr>
              <a:buNone/>
              <a:defRPr sz="3300" b="1">
                <a:solidFill>
                  <a:srgbClr val="172C3B"/>
                </a:solidFill>
                <a:latin typeface="Arial"/>
                <a:ea typeface="Arial"/>
                <a:cs typeface="Arial"/>
              </a:defRPr>
            </a:lvl4pPr>
            <a:lvl5pPr>
              <a:buNone/>
              <a:defRPr sz="3300" b="1">
                <a:solidFill>
                  <a:srgbClr val="172C3B"/>
                </a:solidFill>
                <a:latin typeface="Arial"/>
                <a:ea typeface="Arial"/>
                <a:cs typeface="Arial"/>
              </a:defRPr>
            </a:lvl5pPr>
            <a:lvl6pPr>
              <a:buNone/>
              <a:defRPr sz="3300" b="1">
                <a:solidFill>
                  <a:srgbClr val="172C3B"/>
                </a:solidFill>
                <a:latin typeface="Arial"/>
                <a:ea typeface="Arial"/>
                <a:cs typeface="Arial"/>
              </a:defRPr>
            </a:lvl6pPr>
            <a:lvl7pPr>
              <a:buNone/>
              <a:defRPr sz="3300" b="1">
                <a:solidFill>
                  <a:srgbClr val="172C3B"/>
                </a:solidFill>
                <a:latin typeface="Arial"/>
                <a:ea typeface="Arial"/>
                <a:cs typeface="Arial"/>
              </a:defRPr>
            </a:lvl7pPr>
            <a:lvl8pPr>
              <a:buNone/>
              <a:defRPr sz="3300" b="1">
                <a:solidFill>
                  <a:srgbClr val="172C3B"/>
                </a:solidFill>
                <a:latin typeface="Arial"/>
                <a:ea typeface="Arial"/>
                <a:cs typeface="Arial"/>
              </a:defRPr>
            </a:lvl8pPr>
            <a:lvl9pPr>
              <a:buNone/>
              <a:defRPr sz="3300" b="1">
                <a:solidFill>
                  <a:srgbClr val="172C3B"/>
                </a:solidFill>
                <a:latin typeface="Arial"/>
                <a:ea typeface="Arial"/>
                <a:cs typeface="Arial"/>
              </a:defRPr>
            </a:lvl9pPr>
          </a:lstStyle>
          <a:p xmlns:a="http://schemas.openxmlformats.org/drawingml/2006/main">
            <a:pPr>
              <a:buNone/>
              <a:defRPr sz="3300" b="1">
                <a:solidFill>
                  <a:srgbClr val="172C3B"/>
                </a:solidFill>
                <a:latin typeface="Arial"/>
                <a:ea typeface="Arial"/>
                <a:cs typeface="Arial"/>
              </a:defRPr>
            </a:pPr>
            <a:r>
              <a:rPr sz="3300" b="1">
                <a:solidFill>
                  <a:srgbClr val="172C3B"/>
                </a:solidFill>
                <a:latin typeface="Arial"/>
                <a:ea typeface="Arial"/>
                <a:cs typeface="Arial"/>
              </a:rPr>
              <a:t>A: Evidence available by the cutoff</a:t>
            </a:r>
          </a:p>
        </p:txBody>
      </p:sp>
      <p:sp>
        <p:nvSpPr>
          <p:cNvPr id="2" name="">
            <a:extLst xmlns:a="http://schemas.openxmlformats.org/drawingml/2006/main">
              <a:ext uri="{FF2B5EF4-FFF2-40B4-BE49-F238E27FC236}">
                <a16:creationId xmlns:a16="http://schemas.microsoft.com/office/drawing/2014/main" id="{FDBD5DE8-024B-4AC2-95B0-140333232D7D}"/>
              </a:ext>
            </a:extLst>
          </p:cNvPr>
          <p:cNvSpPr>
            <a:spLocks xmlns:a="http://schemas.openxmlformats.org/drawingml/2006/main" noGrp="1"/>
          </p:cNvSpPr>
          <p:nvPr/>
        </p:nvSpPr>
        <p:spPr>
          <a:xfrm xmlns:a="http://schemas.openxmlformats.org/drawingml/2006/main">
            <a:off x="685800" y="637222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4D606C"/>
                </a:solidFill>
                <a:latin typeface="Arial"/>
                <a:ea typeface="Arial"/>
                <a:cs typeface="Arial"/>
              </a:defRPr>
            </a:defPPr>
            <a:lvl1pPr>
              <a:buNone/>
              <a:defRPr sz="1800" b="0">
                <a:solidFill>
                  <a:srgbClr val="4D606C"/>
                </a:solidFill>
                <a:latin typeface="Arial"/>
                <a:ea typeface="Arial"/>
                <a:cs typeface="Arial"/>
              </a:defRPr>
            </a:lvl1pPr>
            <a:lvl2pPr>
              <a:buNone/>
              <a:defRPr sz="1800" b="0">
                <a:solidFill>
                  <a:srgbClr val="4D606C"/>
                </a:solidFill>
                <a:latin typeface="Arial"/>
                <a:ea typeface="Arial"/>
                <a:cs typeface="Arial"/>
              </a:defRPr>
            </a:lvl2pPr>
            <a:lvl3pPr>
              <a:buNone/>
              <a:defRPr sz="1800" b="0">
                <a:solidFill>
                  <a:srgbClr val="4D606C"/>
                </a:solidFill>
                <a:latin typeface="Arial"/>
                <a:ea typeface="Arial"/>
                <a:cs typeface="Arial"/>
              </a:defRPr>
            </a:lvl3pPr>
            <a:lvl4pPr>
              <a:buNone/>
              <a:defRPr sz="1800" b="0">
                <a:solidFill>
                  <a:srgbClr val="4D606C"/>
                </a:solidFill>
                <a:latin typeface="Arial"/>
                <a:ea typeface="Arial"/>
                <a:cs typeface="Arial"/>
              </a:defRPr>
            </a:lvl4pPr>
            <a:lvl5pPr>
              <a:buNone/>
              <a:defRPr sz="1800" b="0">
                <a:solidFill>
                  <a:srgbClr val="4D606C"/>
                </a:solidFill>
                <a:latin typeface="Arial"/>
                <a:ea typeface="Arial"/>
                <a:cs typeface="Arial"/>
              </a:defRPr>
            </a:lvl5pPr>
            <a:lvl6pPr>
              <a:buNone/>
              <a:defRPr sz="1800" b="0">
                <a:solidFill>
                  <a:srgbClr val="4D606C"/>
                </a:solidFill>
                <a:latin typeface="Arial"/>
                <a:ea typeface="Arial"/>
                <a:cs typeface="Arial"/>
              </a:defRPr>
            </a:lvl6pPr>
            <a:lvl7pPr>
              <a:buNone/>
              <a:defRPr sz="1800" b="0">
                <a:solidFill>
                  <a:srgbClr val="4D606C"/>
                </a:solidFill>
                <a:latin typeface="Arial"/>
                <a:ea typeface="Arial"/>
                <a:cs typeface="Arial"/>
              </a:defRPr>
            </a:lvl7pPr>
            <a:lvl8pPr>
              <a:buNone/>
              <a:defRPr sz="1800" b="0">
                <a:solidFill>
                  <a:srgbClr val="4D606C"/>
                </a:solidFill>
                <a:latin typeface="Arial"/>
                <a:ea typeface="Arial"/>
                <a:cs typeface="Arial"/>
              </a:defRPr>
            </a:lvl8pPr>
            <a:lvl9pPr>
              <a:buNone/>
              <a:defRPr sz="1800" b="0">
                <a:solidFill>
                  <a:srgbClr val="4D606C"/>
                </a:solidFill>
                <a:latin typeface="Arial"/>
                <a:ea typeface="Arial"/>
                <a:cs typeface="Arial"/>
              </a:defRPr>
            </a:lvl9pPr>
          </a:lstStyle>
          <a:p xmlns:a="http://schemas.openxmlformats.org/drawingml/2006/main">
            <a:pPr>
              <a:buNone/>
              <a:defRPr sz="1800" b="0">
                <a:solidFill>
                  <a:srgbClr val="4D606C"/>
                </a:solidFill>
                <a:latin typeface="Arial"/>
                <a:ea typeface="Arial"/>
                <a:cs typeface="Arial"/>
              </a:defRPr>
            </a:pPr>
            <a:r>
              <a:rPr sz="1800" b="0">
                <a:solidFill>
                  <a:srgbClr val="4D606C"/>
                </a:solidFill>
                <a:latin typeface="Arial"/>
                <a:ea typeface="Arial"/>
                <a:cs typeface="Arial"/>
              </a:rPr>
              <a:t>Human labels / automatic answer judging     6/12</a:t>
            </a:r>
          </a:p>
        </p:txBody>
      </p:sp>
      <p:sp>
        <p:nvSpPr>
          <p:cNvPr id="3" name="">
            <a:extLst xmlns:a="http://schemas.openxmlformats.org/drawingml/2006/main">
              <a:ext uri="{FF2B5EF4-FFF2-40B4-BE49-F238E27FC236}">
                <a16:creationId xmlns:a16="http://schemas.microsoft.com/office/drawing/2014/main" id="{8BB4C276-D199-4EBB-96A7-19D265902E4E}"/>
              </a:ext>
            </a:extLst>
          </p:cNvPr>
          <p:cNvSpPr>
            <a:spLocks xmlns:a="http://schemas.openxmlformats.org/drawingml/2006/main" noGrp="1"/>
          </p:cNvSpPr>
          <p:nvPr/>
        </p:nvSpPr>
        <p:spPr>
          <a:xfrm xmlns:a="http://schemas.openxmlformats.org/drawingml/2006/main">
            <a:off x="685800" y="1685925"/>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000" b="1">
                <a:solidFill>
                  <a:srgbClr val="184E6A"/>
                </a:solidFill>
                <a:latin typeface="Arial"/>
                <a:ea typeface="Arial"/>
                <a:cs typeface="Arial"/>
              </a:defRPr>
            </a:defPPr>
            <a:lvl1pPr>
              <a:buNone/>
              <a:defRPr sz="3000" b="1">
                <a:solidFill>
                  <a:srgbClr val="184E6A"/>
                </a:solidFill>
                <a:latin typeface="Arial"/>
                <a:ea typeface="Arial"/>
                <a:cs typeface="Arial"/>
              </a:defRPr>
            </a:lvl1pPr>
            <a:lvl2pPr>
              <a:buNone/>
              <a:defRPr sz="3000" b="1">
                <a:solidFill>
                  <a:srgbClr val="184E6A"/>
                </a:solidFill>
                <a:latin typeface="Arial"/>
                <a:ea typeface="Arial"/>
                <a:cs typeface="Arial"/>
              </a:defRPr>
            </a:lvl2pPr>
            <a:lvl3pPr>
              <a:buNone/>
              <a:defRPr sz="3000" b="1">
                <a:solidFill>
                  <a:srgbClr val="184E6A"/>
                </a:solidFill>
                <a:latin typeface="Arial"/>
                <a:ea typeface="Arial"/>
                <a:cs typeface="Arial"/>
              </a:defRPr>
            </a:lvl3pPr>
            <a:lvl4pPr>
              <a:buNone/>
              <a:defRPr sz="3000" b="1">
                <a:solidFill>
                  <a:srgbClr val="184E6A"/>
                </a:solidFill>
                <a:latin typeface="Arial"/>
                <a:ea typeface="Arial"/>
                <a:cs typeface="Arial"/>
              </a:defRPr>
            </a:lvl4pPr>
            <a:lvl5pPr>
              <a:buNone/>
              <a:defRPr sz="3000" b="1">
                <a:solidFill>
                  <a:srgbClr val="184E6A"/>
                </a:solidFill>
                <a:latin typeface="Arial"/>
                <a:ea typeface="Arial"/>
                <a:cs typeface="Arial"/>
              </a:defRPr>
            </a:lvl5pPr>
            <a:lvl6pPr>
              <a:buNone/>
              <a:defRPr sz="3000" b="1">
                <a:solidFill>
                  <a:srgbClr val="184E6A"/>
                </a:solidFill>
                <a:latin typeface="Arial"/>
                <a:ea typeface="Arial"/>
                <a:cs typeface="Arial"/>
              </a:defRPr>
            </a:lvl6pPr>
            <a:lvl7pPr>
              <a:buNone/>
              <a:defRPr sz="3000" b="1">
                <a:solidFill>
                  <a:srgbClr val="184E6A"/>
                </a:solidFill>
                <a:latin typeface="Arial"/>
                <a:ea typeface="Arial"/>
                <a:cs typeface="Arial"/>
              </a:defRPr>
            </a:lvl7pPr>
            <a:lvl8pPr>
              <a:buNone/>
              <a:defRPr sz="3000" b="1">
                <a:solidFill>
                  <a:srgbClr val="184E6A"/>
                </a:solidFill>
                <a:latin typeface="Arial"/>
                <a:ea typeface="Arial"/>
                <a:cs typeface="Arial"/>
              </a:defRPr>
            </a:lvl8pPr>
            <a:lvl9pPr>
              <a:buNone/>
              <a:defRPr sz="3000" b="1">
                <a:solidFill>
                  <a:srgbClr val="184E6A"/>
                </a:solidFill>
                <a:latin typeface="Arial"/>
                <a:ea typeface="Arial"/>
                <a:cs typeface="Arial"/>
              </a:defRPr>
            </a:lvl9pPr>
          </a:lstStyle>
          <a:p xmlns:a="http://schemas.openxmlformats.org/drawingml/2006/main">
            <a:pPr>
              <a:buNone/>
              <a:defRPr sz="3000" b="1">
                <a:solidFill>
                  <a:srgbClr val="184E6A"/>
                </a:solidFill>
                <a:latin typeface="Arial"/>
                <a:ea typeface="Arial"/>
                <a:cs typeface="Arial"/>
              </a:defRPr>
            </a:pPr>
            <a:r>
              <a:rPr sz="3000" b="1">
                <a:solidFill>
                  <a:srgbClr val="184E6A"/>
                </a:solidFill>
                <a:latin typeface="Arial"/>
                <a:ea typeface="Arial"/>
                <a:cs typeface="Arial"/>
              </a:rPr>
              <a:t>available_by &lt;= query cutoff</a:t>
            </a:r>
          </a:p>
        </p:txBody>
      </p:sp>
      <p:sp>
        <p:nvSpPr>
          <p:cNvPr id="4" name="">
            <a:extLst xmlns:a="http://schemas.openxmlformats.org/drawingml/2006/main">
              <a:ext uri="{FF2B5EF4-FFF2-40B4-BE49-F238E27FC236}">
                <a16:creationId xmlns:a16="http://schemas.microsoft.com/office/drawing/2014/main" id="{D2CBC4A4-D740-4A99-B900-E73B597297C3}"/>
              </a:ext>
            </a:extLst>
          </p:cNvPr>
          <p:cNvSpPr>
            <a:spLocks xmlns:a="http://schemas.openxmlformats.org/drawingml/2006/main" noGrp="1"/>
          </p:cNvSpPr>
          <p:nvPr/>
        </p:nvSpPr>
        <p:spPr>
          <a:xfrm xmlns:a="http://schemas.openxmlformats.org/drawingml/2006/main">
            <a:off x="685800" y="2762250"/>
            <a:ext cx="1082040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0">
                <a:solidFill>
                  <a:srgbClr val="172C3B"/>
                </a:solidFill>
                <a:latin typeface="Arial"/>
                <a:ea typeface="Arial"/>
                <a:cs typeface="Arial"/>
              </a:defRPr>
            </a:defPPr>
            <a:lvl1pPr>
              <a:buNone/>
              <a:defRPr sz="2175" b="0">
                <a:solidFill>
                  <a:srgbClr val="172C3B"/>
                </a:solidFill>
                <a:latin typeface="Arial"/>
                <a:ea typeface="Arial"/>
                <a:cs typeface="Arial"/>
              </a:defRPr>
            </a:lvl1pPr>
            <a:lvl2pPr>
              <a:buNone/>
              <a:defRPr sz="2175" b="0">
                <a:solidFill>
                  <a:srgbClr val="172C3B"/>
                </a:solidFill>
                <a:latin typeface="Arial"/>
                <a:ea typeface="Arial"/>
                <a:cs typeface="Arial"/>
              </a:defRPr>
            </a:lvl2pPr>
            <a:lvl3pPr>
              <a:buNone/>
              <a:defRPr sz="2175" b="0">
                <a:solidFill>
                  <a:srgbClr val="172C3B"/>
                </a:solidFill>
                <a:latin typeface="Arial"/>
                <a:ea typeface="Arial"/>
                <a:cs typeface="Arial"/>
              </a:defRPr>
            </a:lvl3pPr>
            <a:lvl4pPr>
              <a:buNone/>
              <a:defRPr sz="2175" b="0">
                <a:solidFill>
                  <a:srgbClr val="172C3B"/>
                </a:solidFill>
                <a:latin typeface="Arial"/>
                <a:ea typeface="Arial"/>
                <a:cs typeface="Arial"/>
              </a:defRPr>
            </a:lvl4pPr>
            <a:lvl5pPr>
              <a:buNone/>
              <a:defRPr sz="2175" b="0">
                <a:solidFill>
                  <a:srgbClr val="172C3B"/>
                </a:solidFill>
                <a:latin typeface="Arial"/>
                <a:ea typeface="Arial"/>
                <a:cs typeface="Arial"/>
              </a:defRPr>
            </a:lvl5pPr>
            <a:lvl6pPr>
              <a:buNone/>
              <a:defRPr sz="2175" b="0">
                <a:solidFill>
                  <a:srgbClr val="172C3B"/>
                </a:solidFill>
                <a:latin typeface="Arial"/>
                <a:ea typeface="Arial"/>
                <a:cs typeface="Arial"/>
              </a:defRPr>
            </a:lvl6pPr>
            <a:lvl7pPr>
              <a:buNone/>
              <a:defRPr sz="2175" b="0">
                <a:solidFill>
                  <a:srgbClr val="172C3B"/>
                </a:solidFill>
                <a:latin typeface="Arial"/>
                <a:ea typeface="Arial"/>
                <a:cs typeface="Arial"/>
              </a:defRPr>
            </a:lvl7pPr>
            <a:lvl8pPr>
              <a:buNone/>
              <a:defRPr sz="2175" b="0">
                <a:solidFill>
                  <a:srgbClr val="172C3B"/>
                </a:solidFill>
                <a:latin typeface="Arial"/>
                <a:ea typeface="Arial"/>
                <a:cs typeface="Arial"/>
              </a:defRPr>
            </a:lvl8pPr>
            <a:lvl9pPr>
              <a:buNone/>
              <a:defRPr sz="2175" b="0">
                <a:solidFill>
                  <a:srgbClr val="172C3B"/>
                </a:solidFill>
                <a:latin typeface="Arial"/>
                <a:ea typeface="Arial"/>
                <a:cs typeface="Arial"/>
              </a:defRPr>
            </a:lvl9pPr>
          </a:lstStyle>
          <a:p xmlns:a="http://schemas.openxmlformats.org/drawingml/2006/main">
            <a:pPr marL="254000" indent="-127000">
              <a:spcAft>
                <a:spcPts val="1800"/>
              </a:spcAft>
              <a:buChar char="•"/>
              <a:defRPr sz="2175" b="0">
                <a:solidFill>
                  <a:srgbClr val="172C3B"/>
                </a:solidFill>
                <a:latin typeface="Arial"/>
                <a:ea typeface="Arial"/>
                <a:cs typeface="Arial"/>
              </a:defRPr>
            </a:pPr>
            <a:r>
              <a:rPr sz="2175">
                <a:solidFill>
                  <a:srgbClr val="172C3B"/>
                </a:solidFill>
                <a:latin typeface="Arial"/>
                <a:ea typeface="Arial"/>
                <a:cs typeface="Arial"/>
              </a:rPr>
              <a:t>Retrieval filters sources using publication availability, not the event date alone.</a:t>
            </a:r>
          </a:p>
          <a:p xmlns:a="http://schemas.openxmlformats.org/drawingml/2006/main">
            <a:pPr marL="254000" indent="-127000">
              <a:spcAft>
                <a:spcPts val="1800"/>
              </a:spcAft>
              <a:buChar char="•"/>
              <a:defRPr sz="2175" b="0">
                <a:solidFill>
                  <a:srgbClr val="172C3B"/>
                </a:solidFill>
                <a:latin typeface="Arial"/>
                <a:ea typeface="Arial"/>
                <a:cs typeface="Arial"/>
              </a:defRPr>
            </a:pPr>
            <a:r>
              <a:rPr sz="2175">
                <a:solidFill>
                  <a:srgbClr val="172C3B"/>
                </a:solidFill>
                <a:latin typeface="Arial"/>
                <a:ea typeface="Arial"/>
                <a:cs typeface="Arial"/>
              </a:rPr>
              <a:t>Month and year precision use conservative upper bounds.</a:t>
            </a:r>
          </a:p>
          <a:p xmlns:a="http://schemas.openxmlformats.org/drawingml/2006/main">
            <a:pPr marL="254000" indent="-127000">
              <a:spcAft>
                <a:spcPts val="1800"/>
              </a:spcAft>
              <a:buChar char="•"/>
              <a:defRPr sz="2175" b="0">
                <a:solidFill>
                  <a:srgbClr val="172C3B"/>
                </a:solidFill>
                <a:latin typeface="Arial"/>
                <a:ea typeface="Arial"/>
                <a:cs typeface="Arial"/>
              </a:defRPr>
            </a:pPr>
            <a:r>
              <a:rPr sz="2175">
                <a:solidFill>
                  <a:srgbClr val="172C3B"/>
                </a:solidFill>
                <a:latin typeface="Arial"/>
                <a:ea typeface="Arial"/>
                <a:cs typeface="Arial"/>
              </a:rPr>
              <a:t>Undated or future evidence cannot support a positive annotation or a quoted answer.</a:t>
            </a:r>
          </a:p>
          <a:p xmlns:a="http://schemas.openxmlformats.org/drawingml/2006/main">
            <a:pPr marL="254000" indent="-127000">
              <a:spcAft>
                <a:spcPts val="1800"/>
              </a:spcAft>
              <a:buChar char="•"/>
              <a:defRPr sz="2175" b="0">
                <a:solidFill>
                  <a:srgbClr val="172C3B"/>
                </a:solidFill>
                <a:latin typeface="Arial"/>
                <a:ea typeface="Arial"/>
                <a:cs typeface="Arial"/>
              </a:defRPr>
            </a:pPr>
            <a:r>
              <a:rPr sz="2175">
                <a:solidFill>
                  <a:srgbClr val="172C3B"/>
                </a:solidFill>
                <a:latin typeface="Arial"/>
                <a:ea typeface="Arial"/>
                <a:cs typeface="Arial"/>
              </a:rPr>
              <a:t>An earlier-than-corpus control returns zero results in all three modes.</a:t>
            </a:r>
          </a:p>
        </p:txBody>
      </p:sp>
    </p:spTree>
    <p:extLst>
      <p:ext uri="{BB962C8B-B14F-4D97-AF65-F5344CB8AC3E}">
        <p14:creationId xmlns:p14="http://schemas.microsoft.com/office/powerpoint/2010/main" val="13944912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03C06B-B8A6-489D-B089-54F4CB2EC38A}"/>
              </a:ext>
            </a:extLst>
          </p:cNvPr>
          <p:cNvSpPr>
            <a:spLocks xmlns:a="http://schemas.openxmlformats.org/drawingml/2006/main" noGrp="1"/>
          </p:cNvSpPr>
          <p:nvPr/>
        </p:nvSpPr>
        <p:spPr>
          <a:xfrm xmlns:a="http://schemas.openxmlformats.org/drawingml/2006/main">
            <a:off x="685800" y="49530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2C3B"/>
                </a:solidFill>
                <a:latin typeface="Arial"/>
                <a:ea typeface="Arial"/>
                <a:cs typeface="Arial"/>
              </a:defRPr>
            </a:defPPr>
            <a:lvl1pPr>
              <a:buNone/>
              <a:defRPr sz="3300" b="1">
                <a:solidFill>
                  <a:srgbClr val="172C3B"/>
                </a:solidFill>
                <a:latin typeface="Arial"/>
                <a:ea typeface="Arial"/>
                <a:cs typeface="Arial"/>
              </a:defRPr>
            </a:lvl1pPr>
            <a:lvl2pPr>
              <a:buNone/>
              <a:defRPr sz="3300" b="1">
                <a:solidFill>
                  <a:srgbClr val="172C3B"/>
                </a:solidFill>
                <a:latin typeface="Arial"/>
                <a:ea typeface="Arial"/>
                <a:cs typeface="Arial"/>
              </a:defRPr>
            </a:lvl2pPr>
            <a:lvl3pPr>
              <a:buNone/>
              <a:defRPr sz="3300" b="1">
                <a:solidFill>
                  <a:srgbClr val="172C3B"/>
                </a:solidFill>
                <a:latin typeface="Arial"/>
                <a:ea typeface="Arial"/>
                <a:cs typeface="Arial"/>
              </a:defRPr>
            </a:lvl3pPr>
            <a:lvl4pPr>
              <a:buNone/>
              <a:defRPr sz="3300" b="1">
                <a:solidFill>
                  <a:srgbClr val="172C3B"/>
                </a:solidFill>
                <a:latin typeface="Arial"/>
                <a:ea typeface="Arial"/>
                <a:cs typeface="Arial"/>
              </a:defRPr>
            </a:lvl4pPr>
            <a:lvl5pPr>
              <a:buNone/>
              <a:defRPr sz="3300" b="1">
                <a:solidFill>
                  <a:srgbClr val="172C3B"/>
                </a:solidFill>
                <a:latin typeface="Arial"/>
                <a:ea typeface="Arial"/>
                <a:cs typeface="Arial"/>
              </a:defRPr>
            </a:lvl5pPr>
            <a:lvl6pPr>
              <a:buNone/>
              <a:defRPr sz="3300" b="1">
                <a:solidFill>
                  <a:srgbClr val="172C3B"/>
                </a:solidFill>
                <a:latin typeface="Arial"/>
                <a:ea typeface="Arial"/>
                <a:cs typeface="Arial"/>
              </a:defRPr>
            </a:lvl6pPr>
            <a:lvl7pPr>
              <a:buNone/>
              <a:defRPr sz="3300" b="1">
                <a:solidFill>
                  <a:srgbClr val="172C3B"/>
                </a:solidFill>
                <a:latin typeface="Arial"/>
                <a:ea typeface="Arial"/>
                <a:cs typeface="Arial"/>
              </a:defRPr>
            </a:lvl7pPr>
            <a:lvl8pPr>
              <a:buNone/>
              <a:defRPr sz="3300" b="1">
                <a:solidFill>
                  <a:srgbClr val="172C3B"/>
                </a:solidFill>
                <a:latin typeface="Arial"/>
                <a:ea typeface="Arial"/>
                <a:cs typeface="Arial"/>
              </a:defRPr>
            </a:lvl8pPr>
            <a:lvl9pPr>
              <a:buNone/>
              <a:defRPr sz="3300" b="1">
                <a:solidFill>
                  <a:srgbClr val="172C3B"/>
                </a:solidFill>
                <a:latin typeface="Arial"/>
                <a:ea typeface="Arial"/>
                <a:cs typeface="Arial"/>
              </a:defRPr>
            </a:lvl9pPr>
          </a:lstStyle>
          <a:p xmlns:a="http://schemas.openxmlformats.org/drawingml/2006/main">
            <a:pPr>
              <a:buNone/>
              <a:defRPr sz="3300" b="1">
                <a:solidFill>
                  <a:srgbClr val="172C3B"/>
                </a:solidFill>
                <a:latin typeface="Arial"/>
                <a:ea typeface="Arial"/>
                <a:cs typeface="Arial"/>
              </a:defRPr>
            </a:pPr>
            <a:r>
              <a:rPr sz="3300" b="1">
                <a:solidFill>
                  <a:srgbClr val="172C3B"/>
                </a:solidFill>
                <a:latin typeface="Arial"/>
                <a:ea typeface="Arial"/>
                <a:cs typeface="Arial"/>
              </a:rPr>
              <a:t>Human inter-annotator agreement</a:t>
            </a:r>
          </a:p>
        </p:txBody>
      </p:sp>
      <p:sp>
        <p:nvSpPr>
          <p:cNvPr id="2" name="">
            <a:extLst xmlns:a="http://schemas.openxmlformats.org/drawingml/2006/main">
              <a:ext uri="{FF2B5EF4-FFF2-40B4-BE49-F238E27FC236}">
                <a16:creationId xmlns:a16="http://schemas.microsoft.com/office/drawing/2014/main" id="{14F9D785-C97C-4017-B90D-62D5E286AED0}"/>
              </a:ext>
            </a:extLst>
          </p:cNvPr>
          <p:cNvSpPr>
            <a:spLocks xmlns:a="http://schemas.openxmlformats.org/drawingml/2006/main" noGrp="1"/>
          </p:cNvSpPr>
          <p:nvPr/>
        </p:nvSpPr>
        <p:spPr>
          <a:xfrm xmlns:a="http://schemas.openxmlformats.org/drawingml/2006/main">
            <a:off x="685800" y="637222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4D606C"/>
                </a:solidFill>
                <a:latin typeface="Arial"/>
                <a:ea typeface="Arial"/>
                <a:cs typeface="Arial"/>
              </a:defRPr>
            </a:defPPr>
            <a:lvl1pPr>
              <a:buNone/>
              <a:defRPr sz="1800" b="0">
                <a:solidFill>
                  <a:srgbClr val="4D606C"/>
                </a:solidFill>
                <a:latin typeface="Arial"/>
                <a:ea typeface="Arial"/>
                <a:cs typeface="Arial"/>
              </a:defRPr>
            </a:lvl1pPr>
            <a:lvl2pPr>
              <a:buNone/>
              <a:defRPr sz="1800" b="0">
                <a:solidFill>
                  <a:srgbClr val="4D606C"/>
                </a:solidFill>
                <a:latin typeface="Arial"/>
                <a:ea typeface="Arial"/>
                <a:cs typeface="Arial"/>
              </a:defRPr>
            </a:lvl2pPr>
            <a:lvl3pPr>
              <a:buNone/>
              <a:defRPr sz="1800" b="0">
                <a:solidFill>
                  <a:srgbClr val="4D606C"/>
                </a:solidFill>
                <a:latin typeface="Arial"/>
                <a:ea typeface="Arial"/>
                <a:cs typeface="Arial"/>
              </a:defRPr>
            </a:lvl3pPr>
            <a:lvl4pPr>
              <a:buNone/>
              <a:defRPr sz="1800" b="0">
                <a:solidFill>
                  <a:srgbClr val="4D606C"/>
                </a:solidFill>
                <a:latin typeface="Arial"/>
                <a:ea typeface="Arial"/>
                <a:cs typeface="Arial"/>
              </a:defRPr>
            </a:lvl4pPr>
            <a:lvl5pPr>
              <a:buNone/>
              <a:defRPr sz="1800" b="0">
                <a:solidFill>
                  <a:srgbClr val="4D606C"/>
                </a:solidFill>
                <a:latin typeface="Arial"/>
                <a:ea typeface="Arial"/>
                <a:cs typeface="Arial"/>
              </a:defRPr>
            </a:lvl5pPr>
            <a:lvl6pPr>
              <a:buNone/>
              <a:defRPr sz="1800" b="0">
                <a:solidFill>
                  <a:srgbClr val="4D606C"/>
                </a:solidFill>
                <a:latin typeface="Arial"/>
                <a:ea typeface="Arial"/>
                <a:cs typeface="Arial"/>
              </a:defRPr>
            </a:lvl6pPr>
            <a:lvl7pPr>
              <a:buNone/>
              <a:defRPr sz="1800" b="0">
                <a:solidFill>
                  <a:srgbClr val="4D606C"/>
                </a:solidFill>
                <a:latin typeface="Arial"/>
                <a:ea typeface="Arial"/>
                <a:cs typeface="Arial"/>
              </a:defRPr>
            </a:lvl7pPr>
            <a:lvl8pPr>
              <a:buNone/>
              <a:defRPr sz="1800" b="0">
                <a:solidFill>
                  <a:srgbClr val="4D606C"/>
                </a:solidFill>
                <a:latin typeface="Arial"/>
                <a:ea typeface="Arial"/>
                <a:cs typeface="Arial"/>
              </a:defRPr>
            </a:lvl8pPr>
            <a:lvl9pPr>
              <a:buNone/>
              <a:defRPr sz="1800" b="0">
                <a:solidFill>
                  <a:srgbClr val="4D606C"/>
                </a:solidFill>
                <a:latin typeface="Arial"/>
                <a:ea typeface="Arial"/>
                <a:cs typeface="Arial"/>
              </a:defRPr>
            </a:lvl9pPr>
          </a:lstStyle>
          <a:p xmlns:a="http://schemas.openxmlformats.org/drawingml/2006/main">
            <a:pPr>
              <a:buNone/>
              <a:defRPr sz="1800" b="0">
                <a:solidFill>
                  <a:srgbClr val="4D606C"/>
                </a:solidFill>
                <a:latin typeface="Arial"/>
                <a:ea typeface="Arial"/>
                <a:cs typeface="Arial"/>
              </a:defRPr>
            </a:pPr>
            <a:r>
              <a:rPr sz="1800" b="0">
                <a:solidFill>
                  <a:srgbClr val="4D606C"/>
                </a:solidFill>
                <a:latin typeface="Arial"/>
                <a:ea typeface="Arial"/>
                <a:cs typeface="Arial"/>
              </a:rPr>
              <a:t>Human labels / automatic answer judging     7/12</a:t>
            </a:r>
          </a:p>
        </p:txBody>
      </p:sp>
      <p:graphicFrame>
        <p:nvGraphicFramePr>
          <p:cNvPr id="3" name="">
            <a:extLst xmlns:a="http://schemas.openxmlformats.org/drawingml/2006/main">
              <a:ext uri="{FF2B5EF4-FFF2-40B4-BE49-F238E27FC236}">
                <a16:creationId xmlns:a16="http://schemas.microsoft.com/office/drawing/2014/main" id="{CAF83FDB-226E-4DB4-A3BA-067CE905ECC7}"/>
              </a:ext>
            </a:extLst>
          </p:cNvPr>
          <p:cNvGraphicFramePr/>
          <p:nvPr/>
        </p:nvGraphicFramePr>
        <p:xfrm>
          <a:off xmlns:a="http://schemas.openxmlformats.org/drawingml/2006/main" x="685800" y="1714500"/>
          <a:ext xmlns:a="http://schemas.openxmlformats.org/drawingml/2006/main" cx="10820400" cy="2714625"/>
        </p:xfrm>
        <a:graphic xmlns:a="http://schemas.openxmlformats.org/drawingml/2006/main">
          <a:graphicData uri="http://schemas.openxmlformats.org/drawingml/2006/table">
            <a:tbl>
              <a:tblPr firstRow="1" bandRow="0"/>
              <a:tblGrid>
                <a:gridCol w="3619500"/>
                <a:gridCol w="2333625"/>
                <a:gridCol w="2524125"/>
                <a:gridCol w="2343150"/>
              </a:tblGrid>
              <a:tr h="678656">
                <a:tc>
                  <a:txBody>
                    <a:bodyPr/>
                    <a:lstStyle/>
                    <a:p>
                      <a:r>
                        <a:rPr sz="2100" b="1">
                          <a:solidFill>
                            <a:srgbClr val="184E6A"/>
                          </a:solidFill>
                          <a:latin typeface="Arial"/>
                          <a:ea typeface="Arial"/>
                          <a:cs typeface="Arial"/>
                        </a:rPr>
                        <a:t>Measure</a:t>
                      </a:r>
                    </a:p>
                  </a:txBody>
                  <a:tcPr marL="114300" marR="114300" marT="76200" marB="76200"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2100" b="1">
                          <a:solidFill>
                            <a:srgbClr val="184E6A"/>
                          </a:solidFill>
                          <a:latin typeface="Arial"/>
                          <a:ea typeface="Arial"/>
                          <a:cs typeface="Arial"/>
                        </a:rPr>
                        <a:t>Scope</a:t>
                      </a:r>
                    </a:p>
                  </a:txBody>
                  <a:tcPr marL="114300" marR="114300" marT="76200" marB="762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2100" b="1">
                          <a:solidFill>
                            <a:srgbClr val="184E6A"/>
                          </a:solidFill>
                          <a:latin typeface="Arial"/>
                          <a:ea typeface="Arial"/>
                          <a:cs typeface="Arial"/>
                        </a:rPr>
                        <a:t>Value</a:t>
                      </a:r>
                    </a:p>
                  </a:txBody>
                  <a:tcPr marL="114300" marR="114300" marT="76200" marB="762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2100" b="1">
                          <a:solidFill>
                            <a:srgbClr val="184E6A"/>
                          </a:solidFill>
                          <a:latin typeface="Arial"/>
                          <a:ea typeface="Arial"/>
                          <a:cs typeface="Arial"/>
                        </a:rPr>
                        <a:t>Type</a:t>
                      </a:r>
                    </a:p>
                  </a:txBody>
                  <a:tcPr marL="114300" marR="114300" marT="76200" marB="762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r>
              <a:tr h="678656">
                <a:tc>
                  <a:txBody>
                    <a:bodyPr/>
                    <a:lstStyle/>
                    <a:p>
                      <a:r>
                        <a:rPr sz="2100">
                          <a:solidFill>
                            <a:srgbClr val="172C3B"/>
                          </a:solidFill>
                          <a:latin typeface="Arial"/>
                          <a:ea typeface="Arial"/>
                          <a:cs typeface="Arial"/>
                        </a:rPr>
                        <a:t>Overall agreement</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1,000 TEST</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91.13%</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Raw agreement</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r h="678656">
                <a:tc>
                  <a:txBody>
                    <a:bodyPr/>
                    <a:lstStyle/>
                    <a:p>
                      <a:r>
                        <a:rPr sz="2100">
                          <a:solidFill>
                            <a:srgbClr val="172C3B"/>
                          </a:solidFill>
                          <a:latin typeface="Arial"/>
                          <a:ea typeface="Arial"/>
                          <a:cs typeface="Arial"/>
                        </a:rPr>
                        <a:t>Cohen kappa</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TEST</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Not reported</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r h="678656">
                <a:tc>
                  <a:txBody>
                    <a:bodyPr/>
                    <a:lstStyle/>
                    <a:p>
                      <a:r>
                        <a:rPr sz="2100">
                          <a:solidFill>
                            <a:srgbClr val="172C3B"/>
                          </a:solidFill>
                          <a:latin typeface="Arial"/>
                          <a:ea typeface="Arial"/>
                          <a:cs typeface="Arial"/>
                        </a:rPr>
                        <a:t>Weighted kappa</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TEST</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Not reported</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0E7D026-08C6-457A-925C-8B2E401C2AB1}"/>
              </a:ext>
            </a:extLst>
          </p:cNvPr>
          <p:cNvSpPr>
            <a:spLocks xmlns:a="http://schemas.openxmlformats.org/drawingml/2006/main" noGrp="1"/>
          </p:cNvSpPr>
          <p:nvPr/>
        </p:nvSpPr>
        <p:spPr>
          <a:xfrm xmlns:a="http://schemas.openxmlformats.org/drawingml/2006/main">
            <a:off x="685800" y="4867275"/>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00" b="0">
                <a:solidFill>
                  <a:srgbClr val="172C3B"/>
                </a:solidFill>
                <a:latin typeface="Arial"/>
                <a:ea typeface="Arial"/>
                <a:cs typeface="Arial"/>
              </a:defRPr>
            </a:defPPr>
            <a:lvl1pPr>
              <a:buNone/>
              <a:defRPr sz="2100" b="0">
                <a:solidFill>
                  <a:srgbClr val="172C3B"/>
                </a:solidFill>
                <a:latin typeface="Arial"/>
                <a:ea typeface="Arial"/>
                <a:cs typeface="Arial"/>
              </a:defRPr>
            </a:lvl1pPr>
            <a:lvl2pPr>
              <a:buNone/>
              <a:defRPr sz="2100" b="0">
                <a:solidFill>
                  <a:srgbClr val="172C3B"/>
                </a:solidFill>
                <a:latin typeface="Arial"/>
                <a:ea typeface="Arial"/>
                <a:cs typeface="Arial"/>
              </a:defRPr>
            </a:lvl2pPr>
            <a:lvl3pPr>
              <a:buNone/>
              <a:defRPr sz="2100" b="0">
                <a:solidFill>
                  <a:srgbClr val="172C3B"/>
                </a:solidFill>
                <a:latin typeface="Arial"/>
                <a:ea typeface="Arial"/>
                <a:cs typeface="Arial"/>
              </a:defRPr>
            </a:lvl3pPr>
            <a:lvl4pPr>
              <a:buNone/>
              <a:defRPr sz="2100" b="0">
                <a:solidFill>
                  <a:srgbClr val="172C3B"/>
                </a:solidFill>
                <a:latin typeface="Arial"/>
                <a:ea typeface="Arial"/>
                <a:cs typeface="Arial"/>
              </a:defRPr>
            </a:lvl4pPr>
            <a:lvl5pPr>
              <a:buNone/>
              <a:defRPr sz="2100" b="0">
                <a:solidFill>
                  <a:srgbClr val="172C3B"/>
                </a:solidFill>
                <a:latin typeface="Arial"/>
                <a:ea typeface="Arial"/>
                <a:cs typeface="Arial"/>
              </a:defRPr>
            </a:lvl5pPr>
            <a:lvl6pPr>
              <a:buNone/>
              <a:defRPr sz="2100" b="0">
                <a:solidFill>
                  <a:srgbClr val="172C3B"/>
                </a:solidFill>
                <a:latin typeface="Arial"/>
                <a:ea typeface="Arial"/>
                <a:cs typeface="Arial"/>
              </a:defRPr>
            </a:lvl6pPr>
            <a:lvl7pPr>
              <a:buNone/>
              <a:defRPr sz="2100" b="0">
                <a:solidFill>
                  <a:srgbClr val="172C3B"/>
                </a:solidFill>
                <a:latin typeface="Arial"/>
                <a:ea typeface="Arial"/>
                <a:cs typeface="Arial"/>
              </a:defRPr>
            </a:lvl7pPr>
            <a:lvl8pPr>
              <a:buNone/>
              <a:defRPr sz="2100" b="0">
                <a:solidFill>
                  <a:srgbClr val="172C3B"/>
                </a:solidFill>
                <a:latin typeface="Arial"/>
                <a:ea typeface="Arial"/>
                <a:cs typeface="Arial"/>
              </a:defRPr>
            </a:lvl8pPr>
            <a:lvl9pPr>
              <a:buNone/>
              <a:defRPr sz="2100" b="0">
                <a:solidFill>
                  <a:srgbClr val="172C3B"/>
                </a:solidFill>
                <a:latin typeface="Arial"/>
                <a:ea typeface="Arial"/>
                <a:cs typeface="Arial"/>
              </a:defRPr>
            </a:lvl9pPr>
          </a:lstStyle>
          <a:p xmlns:a="http://schemas.openxmlformats.org/drawingml/2006/main">
            <a:pPr>
              <a:buNone/>
              <a:defRPr sz="2100" b="0">
                <a:solidFill>
                  <a:srgbClr val="172C3B"/>
                </a:solidFill>
                <a:latin typeface="Arial"/>
                <a:ea typeface="Arial"/>
                <a:cs typeface="Arial"/>
              </a:defRPr>
            </a:pPr>
            <a:r>
              <a:rPr sz="2100" b="0">
                <a:solidFill>
                  <a:srgbClr val="172C3B"/>
                </a:solidFill>
                <a:latin typeface="Arial"/>
                <a:ea typeface="Arial"/>
                <a:cs typeface="Arial"/>
              </a:rPr>
              <a:t>Two independent human annotators; 1,000 TEST records.</a:t>
            </a:r>
          </a:p>
        </p:txBody>
      </p:sp>
      <p:sp>
        <p:nvSpPr>
          <p:cNvPr id="5" name="">
            <a:extLst xmlns:a="http://schemas.openxmlformats.org/drawingml/2006/main">
              <a:ext uri="{FF2B5EF4-FFF2-40B4-BE49-F238E27FC236}">
                <a16:creationId xmlns:a16="http://schemas.microsoft.com/office/drawing/2014/main" id="{3A1963F5-B71B-45F8-9FF0-A74280075AA0}"/>
              </a:ext>
            </a:extLst>
          </p:cNvPr>
          <p:cNvSpPr>
            <a:spLocks xmlns:a="http://schemas.openxmlformats.org/drawingml/2006/main" noGrp="1"/>
          </p:cNvSpPr>
          <p:nvPr/>
        </p:nvSpPr>
        <p:spPr>
          <a:xfrm xmlns:a="http://schemas.openxmlformats.org/drawingml/2006/main">
            <a:off x="685800" y="54387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4D606C"/>
                </a:solidFill>
                <a:latin typeface="Arial"/>
                <a:ea typeface="Arial"/>
                <a:cs typeface="Arial"/>
              </a:defRPr>
            </a:defPPr>
            <a:lvl1pPr>
              <a:buNone/>
              <a:defRPr sz="2025" b="0">
                <a:solidFill>
                  <a:srgbClr val="4D606C"/>
                </a:solidFill>
                <a:latin typeface="Arial"/>
                <a:ea typeface="Arial"/>
                <a:cs typeface="Arial"/>
              </a:defRPr>
            </a:lvl1pPr>
            <a:lvl2pPr>
              <a:buNone/>
              <a:defRPr sz="2025" b="0">
                <a:solidFill>
                  <a:srgbClr val="4D606C"/>
                </a:solidFill>
                <a:latin typeface="Arial"/>
                <a:ea typeface="Arial"/>
                <a:cs typeface="Arial"/>
              </a:defRPr>
            </a:lvl2pPr>
            <a:lvl3pPr>
              <a:buNone/>
              <a:defRPr sz="2025" b="0">
                <a:solidFill>
                  <a:srgbClr val="4D606C"/>
                </a:solidFill>
                <a:latin typeface="Arial"/>
                <a:ea typeface="Arial"/>
                <a:cs typeface="Arial"/>
              </a:defRPr>
            </a:lvl3pPr>
            <a:lvl4pPr>
              <a:buNone/>
              <a:defRPr sz="2025" b="0">
                <a:solidFill>
                  <a:srgbClr val="4D606C"/>
                </a:solidFill>
                <a:latin typeface="Arial"/>
                <a:ea typeface="Arial"/>
                <a:cs typeface="Arial"/>
              </a:defRPr>
            </a:lvl4pPr>
            <a:lvl5pPr>
              <a:buNone/>
              <a:defRPr sz="2025" b="0">
                <a:solidFill>
                  <a:srgbClr val="4D606C"/>
                </a:solidFill>
                <a:latin typeface="Arial"/>
                <a:ea typeface="Arial"/>
                <a:cs typeface="Arial"/>
              </a:defRPr>
            </a:lvl5pPr>
            <a:lvl6pPr>
              <a:buNone/>
              <a:defRPr sz="2025" b="0">
                <a:solidFill>
                  <a:srgbClr val="4D606C"/>
                </a:solidFill>
                <a:latin typeface="Arial"/>
                <a:ea typeface="Arial"/>
                <a:cs typeface="Arial"/>
              </a:defRPr>
            </a:lvl6pPr>
            <a:lvl7pPr>
              <a:buNone/>
              <a:defRPr sz="2025" b="0">
                <a:solidFill>
                  <a:srgbClr val="4D606C"/>
                </a:solidFill>
                <a:latin typeface="Arial"/>
                <a:ea typeface="Arial"/>
                <a:cs typeface="Arial"/>
              </a:defRPr>
            </a:lvl7pPr>
            <a:lvl8pPr>
              <a:buNone/>
              <a:defRPr sz="2025" b="0">
                <a:solidFill>
                  <a:srgbClr val="4D606C"/>
                </a:solidFill>
                <a:latin typeface="Arial"/>
                <a:ea typeface="Arial"/>
                <a:cs typeface="Arial"/>
              </a:defRPr>
            </a:lvl8pPr>
            <a:lvl9pPr>
              <a:buNone/>
              <a:defRPr sz="2025" b="0">
                <a:solidFill>
                  <a:srgbClr val="4D606C"/>
                </a:solidFill>
                <a:latin typeface="Arial"/>
                <a:ea typeface="Arial"/>
                <a:cs typeface="Arial"/>
              </a:defRPr>
            </a:lvl9pPr>
          </a:lstStyle>
          <a:p xmlns:a="http://schemas.openxmlformats.org/drawingml/2006/main">
            <a:pPr>
              <a:buNone/>
              <a:defRPr sz="2025" b="0">
                <a:solidFill>
                  <a:srgbClr val="4D606C"/>
                </a:solidFill>
                <a:latin typeface="Arial"/>
                <a:ea typeface="Arial"/>
                <a:cs typeface="Arial"/>
              </a:defRPr>
            </a:pPr>
            <a:r>
              <a:rPr sz="2025" b="0">
                <a:solidFill>
                  <a:srgbClr val="4D606C"/>
                </a:solidFill>
                <a:latin typeface="Arial"/>
                <a:ea typeface="Arial"/>
                <a:cs typeface="Arial"/>
              </a:rPr>
              <a:t>Overall raw agreement across the TEST annotation task.</a:t>
            </a:r>
          </a:p>
        </p:txBody>
      </p:sp>
    </p:spTree>
    <p:extLst>
      <p:ext uri="{BB962C8B-B14F-4D97-AF65-F5344CB8AC3E}">
        <p14:creationId xmlns:p14="http://schemas.microsoft.com/office/powerpoint/2010/main" val="6834792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51B277-FF8A-4848-BE93-25FFFBCDE637}"/>
              </a:ext>
            </a:extLst>
          </p:cNvPr>
          <p:cNvSpPr>
            <a:spLocks xmlns:a="http://schemas.openxmlformats.org/drawingml/2006/main" noGrp="1"/>
          </p:cNvSpPr>
          <p:nvPr/>
        </p:nvSpPr>
        <p:spPr>
          <a:xfrm xmlns:a="http://schemas.openxmlformats.org/drawingml/2006/main">
            <a:off x="685800" y="49530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2C3B"/>
                </a:solidFill>
                <a:latin typeface="Arial"/>
                <a:ea typeface="Arial"/>
                <a:cs typeface="Arial"/>
              </a:defRPr>
            </a:defPPr>
            <a:lvl1pPr>
              <a:buNone/>
              <a:defRPr sz="3300" b="1">
                <a:solidFill>
                  <a:srgbClr val="172C3B"/>
                </a:solidFill>
                <a:latin typeface="Arial"/>
                <a:ea typeface="Arial"/>
                <a:cs typeface="Arial"/>
              </a:defRPr>
            </a:lvl1pPr>
            <a:lvl2pPr>
              <a:buNone/>
              <a:defRPr sz="3300" b="1">
                <a:solidFill>
                  <a:srgbClr val="172C3B"/>
                </a:solidFill>
                <a:latin typeface="Arial"/>
                <a:ea typeface="Arial"/>
                <a:cs typeface="Arial"/>
              </a:defRPr>
            </a:lvl2pPr>
            <a:lvl3pPr>
              <a:buNone/>
              <a:defRPr sz="3300" b="1">
                <a:solidFill>
                  <a:srgbClr val="172C3B"/>
                </a:solidFill>
                <a:latin typeface="Arial"/>
                <a:ea typeface="Arial"/>
                <a:cs typeface="Arial"/>
              </a:defRPr>
            </a:lvl3pPr>
            <a:lvl4pPr>
              <a:buNone/>
              <a:defRPr sz="3300" b="1">
                <a:solidFill>
                  <a:srgbClr val="172C3B"/>
                </a:solidFill>
                <a:latin typeface="Arial"/>
                <a:ea typeface="Arial"/>
                <a:cs typeface="Arial"/>
              </a:defRPr>
            </a:lvl4pPr>
            <a:lvl5pPr>
              <a:buNone/>
              <a:defRPr sz="3300" b="1">
                <a:solidFill>
                  <a:srgbClr val="172C3B"/>
                </a:solidFill>
                <a:latin typeface="Arial"/>
                <a:ea typeface="Arial"/>
                <a:cs typeface="Arial"/>
              </a:defRPr>
            </a:lvl5pPr>
            <a:lvl6pPr>
              <a:buNone/>
              <a:defRPr sz="3300" b="1">
                <a:solidFill>
                  <a:srgbClr val="172C3B"/>
                </a:solidFill>
                <a:latin typeface="Arial"/>
                <a:ea typeface="Arial"/>
                <a:cs typeface="Arial"/>
              </a:defRPr>
            </a:lvl6pPr>
            <a:lvl7pPr>
              <a:buNone/>
              <a:defRPr sz="3300" b="1">
                <a:solidFill>
                  <a:srgbClr val="172C3B"/>
                </a:solidFill>
                <a:latin typeface="Arial"/>
                <a:ea typeface="Arial"/>
                <a:cs typeface="Arial"/>
              </a:defRPr>
            </a:lvl7pPr>
            <a:lvl8pPr>
              <a:buNone/>
              <a:defRPr sz="3300" b="1">
                <a:solidFill>
                  <a:srgbClr val="172C3B"/>
                </a:solidFill>
                <a:latin typeface="Arial"/>
                <a:ea typeface="Arial"/>
                <a:cs typeface="Arial"/>
              </a:defRPr>
            </a:lvl8pPr>
            <a:lvl9pPr>
              <a:buNone/>
              <a:defRPr sz="3300" b="1">
                <a:solidFill>
                  <a:srgbClr val="172C3B"/>
                </a:solidFill>
                <a:latin typeface="Arial"/>
                <a:ea typeface="Arial"/>
                <a:cs typeface="Arial"/>
              </a:defRPr>
            </a:lvl9pPr>
          </a:lstStyle>
          <a:p xmlns:a="http://schemas.openxmlformats.org/drawingml/2006/main">
            <a:pPr>
              <a:buNone/>
              <a:defRPr sz="3300" b="1">
                <a:solidFill>
                  <a:srgbClr val="172C3B"/>
                </a:solidFill>
                <a:latin typeface="Arial"/>
                <a:ea typeface="Arial"/>
                <a:cs typeface="Arial"/>
              </a:defRPr>
            </a:pPr>
            <a:r>
              <a:rPr sz="3300" b="1">
                <a:solidFill>
                  <a:srgbClr val="172C3B"/>
                </a:solidFill>
                <a:latin typeface="Arial"/>
                <a:ea typeface="Arial"/>
                <a:cs typeface="Arial"/>
              </a:rPr>
              <a:t>Retrieval on 1,000 TEST questions</a:t>
            </a:r>
          </a:p>
        </p:txBody>
      </p:sp>
      <p:sp>
        <p:nvSpPr>
          <p:cNvPr id="2" name="">
            <a:extLst xmlns:a="http://schemas.openxmlformats.org/drawingml/2006/main">
              <a:ext uri="{FF2B5EF4-FFF2-40B4-BE49-F238E27FC236}">
                <a16:creationId xmlns:a16="http://schemas.microsoft.com/office/drawing/2014/main" id="{68364575-4546-4BFF-8E24-5C4C56BFA094}"/>
              </a:ext>
            </a:extLst>
          </p:cNvPr>
          <p:cNvSpPr>
            <a:spLocks xmlns:a="http://schemas.openxmlformats.org/drawingml/2006/main" noGrp="1"/>
          </p:cNvSpPr>
          <p:nvPr/>
        </p:nvSpPr>
        <p:spPr>
          <a:xfrm xmlns:a="http://schemas.openxmlformats.org/drawingml/2006/main">
            <a:off x="685800" y="637222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4D606C"/>
                </a:solidFill>
                <a:latin typeface="Arial"/>
                <a:ea typeface="Arial"/>
                <a:cs typeface="Arial"/>
              </a:defRPr>
            </a:defPPr>
            <a:lvl1pPr>
              <a:buNone/>
              <a:defRPr sz="1800" b="0">
                <a:solidFill>
                  <a:srgbClr val="4D606C"/>
                </a:solidFill>
                <a:latin typeface="Arial"/>
                <a:ea typeface="Arial"/>
                <a:cs typeface="Arial"/>
              </a:defRPr>
            </a:lvl1pPr>
            <a:lvl2pPr>
              <a:buNone/>
              <a:defRPr sz="1800" b="0">
                <a:solidFill>
                  <a:srgbClr val="4D606C"/>
                </a:solidFill>
                <a:latin typeface="Arial"/>
                <a:ea typeface="Arial"/>
                <a:cs typeface="Arial"/>
              </a:defRPr>
            </a:lvl2pPr>
            <a:lvl3pPr>
              <a:buNone/>
              <a:defRPr sz="1800" b="0">
                <a:solidFill>
                  <a:srgbClr val="4D606C"/>
                </a:solidFill>
                <a:latin typeface="Arial"/>
                <a:ea typeface="Arial"/>
                <a:cs typeface="Arial"/>
              </a:defRPr>
            </a:lvl3pPr>
            <a:lvl4pPr>
              <a:buNone/>
              <a:defRPr sz="1800" b="0">
                <a:solidFill>
                  <a:srgbClr val="4D606C"/>
                </a:solidFill>
                <a:latin typeface="Arial"/>
                <a:ea typeface="Arial"/>
                <a:cs typeface="Arial"/>
              </a:defRPr>
            </a:lvl4pPr>
            <a:lvl5pPr>
              <a:buNone/>
              <a:defRPr sz="1800" b="0">
                <a:solidFill>
                  <a:srgbClr val="4D606C"/>
                </a:solidFill>
                <a:latin typeface="Arial"/>
                <a:ea typeface="Arial"/>
                <a:cs typeface="Arial"/>
              </a:defRPr>
            </a:lvl5pPr>
            <a:lvl6pPr>
              <a:buNone/>
              <a:defRPr sz="1800" b="0">
                <a:solidFill>
                  <a:srgbClr val="4D606C"/>
                </a:solidFill>
                <a:latin typeface="Arial"/>
                <a:ea typeface="Arial"/>
                <a:cs typeface="Arial"/>
              </a:defRPr>
            </a:lvl6pPr>
            <a:lvl7pPr>
              <a:buNone/>
              <a:defRPr sz="1800" b="0">
                <a:solidFill>
                  <a:srgbClr val="4D606C"/>
                </a:solidFill>
                <a:latin typeface="Arial"/>
                <a:ea typeface="Arial"/>
                <a:cs typeface="Arial"/>
              </a:defRPr>
            </a:lvl7pPr>
            <a:lvl8pPr>
              <a:buNone/>
              <a:defRPr sz="1800" b="0">
                <a:solidFill>
                  <a:srgbClr val="4D606C"/>
                </a:solidFill>
                <a:latin typeface="Arial"/>
                <a:ea typeface="Arial"/>
                <a:cs typeface="Arial"/>
              </a:defRPr>
            </a:lvl8pPr>
            <a:lvl9pPr>
              <a:buNone/>
              <a:defRPr sz="1800" b="0">
                <a:solidFill>
                  <a:srgbClr val="4D606C"/>
                </a:solidFill>
                <a:latin typeface="Arial"/>
                <a:ea typeface="Arial"/>
                <a:cs typeface="Arial"/>
              </a:defRPr>
            </a:lvl9pPr>
          </a:lstStyle>
          <a:p xmlns:a="http://schemas.openxmlformats.org/drawingml/2006/main">
            <a:pPr>
              <a:buNone/>
              <a:defRPr sz="1800" b="0">
                <a:solidFill>
                  <a:srgbClr val="4D606C"/>
                </a:solidFill>
                <a:latin typeface="Arial"/>
                <a:ea typeface="Arial"/>
                <a:cs typeface="Arial"/>
              </a:defRPr>
            </a:pPr>
            <a:r>
              <a:rPr sz="1800" b="0">
                <a:solidFill>
                  <a:srgbClr val="4D606C"/>
                </a:solidFill>
                <a:latin typeface="Arial"/>
                <a:ea typeface="Arial"/>
                <a:cs typeface="Arial"/>
              </a:rPr>
              <a:t>Human labels / automatic answer judging     8/12</a:t>
            </a:r>
          </a:p>
        </p:txBody>
      </p:sp>
      <p:graphicFrame>
        <p:nvGraphicFramePr>
          <p:cNvPr id="3" name="Chart">
            <a:extLst xmlns:a="http://schemas.openxmlformats.org/drawingml/2006/main">
              <a:ext uri="{FF2B5EF4-FFF2-40B4-BE49-F238E27FC236}">
                <a16:creationId xmlns:a16="http://schemas.microsoft.com/office/drawing/2014/main" id="{8BE88D99-FBD2-4A9F-80B2-FF3B5107E0F6}"/>
              </a:ext>
            </a:extLst>
          </p:cNvPr>
          <p:cNvGraphicFramePr/>
          <p:nvPr/>
        </p:nvGraphicFramePr>
        <p:xfrm>
          <a:off xmlns:a="http://schemas.openxmlformats.org/drawingml/2006/main" x="704850" y="1476375"/>
          <a:ext xmlns:a="http://schemas.openxmlformats.org/drawingml/2006/main" cx="10782300" cy="2724150"/>
        </p:xfrm>
        <a:graphic xmlns:a="http://schemas.openxmlformats.org/drawingml/2006/main">
          <a:graphicData uri="http://schemas.openxmlformats.org/drawingml/2006/chart">
            <c:chart xmlns:r="http://schemas.openxmlformats.org/officeDocument/2006/relationships" xmlns:c="http://schemas.openxmlformats.org/drawingml/2006/chart" r:id="R2cb38b6d47aa4d2f"/>
          </a:graphicData>
        </a:graphic>
      </p:graphicFrame>
      <p:graphicFrame>
        <p:nvGraphicFramePr>
          <p:cNvPr id="4" name="">
            <a:extLst xmlns:a="http://schemas.openxmlformats.org/drawingml/2006/main">
              <a:ext uri="{FF2B5EF4-FFF2-40B4-BE49-F238E27FC236}">
                <a16:creationId xmlns:a16="http://schemas.microsoft.com/office/drawing/2014/main" id="{0B503AD6-A424-4524-B5C4-6908F50BBF83}"/>
              </a:ext>
            </a:extLst>
          </p:cNvPr>
          <p:cNvGraphicFramePr/>
          <p:nvPr/>
        </p:nvGraphicFramePr>
        <p:xfrm>
          <a:off xmlns:a="http://schemas.openxmlformats.org/drawingml/2006/main" x="685800" y="4238625"/>
          <a:ext xmlns:a="http://schemas.openxmlformats.org/drawingml/2006/main" cx="10820400" cy="1524000"/>
        </p:xfrm>
        <a:graphic xmlns:a="http://schemas.openxmlformats.org/drawingml/2006/main">
          <a:graphicData uri="http://schemas.openxmlformats.org/drawingml/2006/table">
            <a:tbl>
              <a:tblPr firstRow="1" bandRow="0"/>
              <a:tblGrid>
                <a:gridCol w="2209800"/>
                <a:gridCol w="1905000"/>
                <a:gridCol w="2476500"/>
                <a:gridCol w="2019300"/>
                <a:gridCol w="2209800"/>
              </a:tblGrid>
              <a:tr h="381000">
                <a:tc>
                  <a:txBody>
                    <a:bodyPr/>
                    <a:lstStyle/>
                    <a:p>
                      <a:r>
                        <a:rPr sz="1800" b="1">
                          <a:solidFill>
                            <a:srgbClr val="184E6A"/>
                          </a:solidFill>
                          <a:latin typeface="Arial"/>
                          <a:ea typeface="Arial"/>
                          <a:cs typeface="Arial"/>
                        </a:rPr>
                        <a:t>Cutoff on</a:t>
                      </a:r>
                    </a:p>
                  </a:txBody>
                  <a:tcPr marL="114300" marR="114300" marT="38100" marB="38100"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1800" b="1">
                          <a:solidFill>
                            <a:srgbClr val="184E6A"/>
                          </a:solidFill>
                          <a:latin typeface="Arial"/>
                          <a:ea typeface="Arial"/>
                          <a:cs typeface="Arial"/>
                        </a:rPr>
                        <a:t>P@5</a:t>
                      </a:r>
                    </a:p>
                  </a:txBody>
                  <a:tcPr marL="114300" marR="114300" marT="38100" marB="381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1800" b="1">
                          <a:solidFill>
                            <a:srgbClr val="184E6A"/>
                          </a:solidFill>
                          <a:latin typeface="Arial"/>
                          <a:ea typeface="Arial"/>
                          <a:cs typeface="Arial"/>
                        </a:rPr>
                        <a:t>Pool R@5</a:t>
                      </a:r>
                    </a:p>
                  </a:txBody>
                  <a:tcPr marL="114300" marR="114300" marT="38100" marB="381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1800" b="1">
                          <a:solidFill>
                            <a:srgbClr val="184E6A"/>
                          </a:solidFill>
                          <a:latin typeface="Arial"/>
                          <a:ea typeface="Arial"/>
                          <a:cs typeface="Arial"/>
                        </a:rPr>
                        <a:t>MRR@5</a:t>
                      </a:r>
                    </a:p>
                  </a:txBody>
                  <a:tcPr marL="114300" marR="114300" marT="38100" marB="381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1800" b="1">
                          <a:solidFill>
                            <a:srgbClr val="184E6A"/>
                          </a:solidFill>
                          <a:latin typeface="Arial"/>
                          <a:ea typeface="Arial"/>
                          <a:cs typeface="Arial"/>
                        </a:rPr>
                        <a:t>nDCG@5</a:t>
                      </a:r>
                    </a:p>
                  </a:txBody>
                  <a:tcPr marL="114300" marR="114300" marT="38100" marB="381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r>
              <a:tr h="381000">
                <a:tc>
                  <a:txBody>
                    <a:bodyPr/>
                    <a:lstStyle/>
                    <a:p>
                      <a:r>
                        <a:rPr sz="1800">
                          <a:solidFill>
                            <a:srgbClr val="172C3B"/>
                          </a:solidFill>
                          <a:latin typeface="Arial"/>
                          <a:ea typeface="Arial"/>
                          <a:cs typeface="Arial"/>
                        </a:rPr>
                        <a:t>BM25</a:t>
                      </a:r>
                    </a:p>
                  </a:txBody>
                  <a:tcPr marL="114300" marR="114300" marT="38100" marB="381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0.670</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0.648</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0.934</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0.802</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r>
              <a:tr h="381000">
                <a:tc>
                  <a:txBody>
                    <a:bodyPr/>
                    <a:lstStyle/>
                    <a:p>
                      <a:r>
                        <a:rPr sz="1800">
                          <a:solidFill>
                            <a:srgbClr val="172C3B"/>
                          </a:solidFill>
                          <a:latin typeface="Arial"/>
                          <a:ea typeface="Arial"/>
                          <a:cs typeface="Arial"/>
                        </a:rPr>
                        <a:t>Dense</a:t>
                      </a:r>
                    </a:p>
                  </a:txBody>
                  <a:tcPr marL="114300" marR="114300" marT="38100" marB="381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0.652</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0.625</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0.897</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0.721</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r>
              <a:tr h="381000">
                <a:tc>
                  <a:txBody>
                    <a:bodyPr/>
                    <a:lstStyle/>
                    <a:p>
                      <a:r>
                        <a:rPr sz="1800">
                          <a:solidFill>
                            <a:srgbClr val="172C3B"/>
                          </a:solidFill>
                          <a:latin typeface="Arial"/>
                          <a:ea typeface="Arial"/>
                          <a:cs typeface="Arial"/>
                        </a:rPr>
                        <a:t>Hybrid</a:t>
                      </a:r>
                    </a:p>
                  </a:txBody>
                  <a:tcPr marL="114300" marR="114300" marT="38100" marB="381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0.723</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0.696</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0.944</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0.816</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265FF2C-837F-46CA-BC20-EFED2D8C618E}"/>
              </a:ext>
            </a:extLst>
          </p:cNvPr>
          <p:cNvSpPr>
            <a:spLocks xmlns:a="http://schemas.openxmlformats.org/drawingml/2006/main" noGrp="1"/>
          </p:cNvSpPr>
          <p:nvPr/>
        </p:nvSpPr>
        <p:spPr>
          <a:xfrm xmlns:a="http://schemas.openxmlformats.org/drawingml/2006/main">
            <a:off x="685800" y="5991225"/>
            <a:ext cx="108204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4D606C"/>
                </a:solidFill>
                <a:latin typeface="Arial"/>
                <a:ea typeface="Arial"/>
                <a:cs typeface="Arial"/>
              </a:defRPr>
            </a:defPPr>
            <a:lvl1pPr>
              <a:buNone/>
              <a:defRPr sz="1800" b="0">
                <a:solidFill>
                  <a:srgbClr val="4D606C"/>
                </a:solidFill>
                <a:latin typeface="Arial"/>
                <a:ea typeface="Arial"/>
                <a:cs typeface="Arial"/>
              </a:defRPr>
            </a:lvl1pPr>
            <a:lvl2pPr>
              <a:buNone/>
              <a:defRPr sz="1800" b="0">
                <a:solidFill>
                  <a:srgbClr val="4D606C"/>
                </a:solidFill>
                <a:latin typeface="Arial"/>
                <a:ea typeface="Arial"/>
                <a:cs typeface="Arial"/>
              </a:defRPr>
            </a:lvl2pPr>
            <a:lvl3pPr>
              <a:buNone/>
              <a:defRPr sz="1800" b="0">
                <a:solidFill>
                  <a:srgbClr val="4D606C"/>
                </a:solidFill>
                <a:latin typeface="Arial"/>
                <a:ea typeface="Arial"/>
                <a:cs typeface="Arial"/>
              </a:defRPr>
            </a:lvl3pPr>
            <a:lvl4pPr>
              <a:buNone/>
              <a:defRPr sz="1800" b="0">
                <a:solidFill>
                  <a:srgbClr val="4D606C"/>
                </a:solidFill>
                <a:latin typeface="Arial"/>
                <a:ea typeface="Arial"/>
                <a:cs typeface="Arial"/>
              </a:defRPr>
            </a:lvl4pPr>
            <a:lvl5pPr>
              <a:buNone/>
              <a:defRPr sz="1800" b="0">
                <a:solidFill>
                  <a:srgbClr val="4D606C"/>
                </a:solidFill>
                <a:latin typeface="Arial"/>
                <a:ea typeface="Arial"/>
                <a:cs typeface="Arial"/>
              </a:defRPr>
            </a:lvl5pPr>
            <a:lvl6pPr>
              <a:buNone/>
              <a:defRPr sz="1800" b="0">
                <a:solidFill>
                  <a:srgbClr val="4D606C"/>
                </a:solidFill>
                <a:latin typeface="Arial"/>
                <a:ea typeface="Arial"/>
                <a:cs typeface="Arial"/>
              </a:defRPr>
            </a:lvl6pPr>
            <a:lvl7pPr>
              <a:buNone/>
              <a:defRPr sz="1800" b="0">
                <a:solidFill>
                  <a:srgbClr val="4D606C"/>
                </a:solidFill>
                <a:latin typeface="Arial"/>
                <a:ea typeface="Arial"/>
                <a:cs typeface="Arial"/>
              </a:defRPr>
            </a:lvl7pPr>
            <a:lvl8pPr>
              <a:buNone/>
              <a:defRPr sz="1800" b="0">
                <a:solidFill>
                  <a:srgbClr val="4D606C"/>
                </a:solidFill>
                <a:latin typeface="Arial"/>
                <a:ea typeface="Arial"/>
                <a:cs typeface="Arial"/>
              </a:defRPr>
            </a:lvl8pPr>
            <a:lvl9pPr>
              <a:buNone/>
              <a:defRPr sz="1800" b="0">
                <a:solidFill>
                  <a:srgbClr val="4D606C"/>
                </a:solidFill>
                <a:latin typeface="Arial"/>
                <a:ea typeface="Arial"/>
                <a:cs typeface="Arial"/>
              </a:defRPr>
            </a:lvl9pPr>
          </a:lstStyle>
          <a:p xmlns:a="http://schemas.openxmlformats.org/drawingml/2006/main">
            <a:pPr>
              <a:buNone/>
              <a:defRPr sz="1800" b="0">
                <a:solidFill>
                  <a:srgbClr val="4D606C"/>
                </a:solidFill>
                <a:latin typeface="Arial"/>
                <a:ea typeface="Arial"/>
                <a:cs typeface="Arial"/>
              </a:defRPr>
            </a:pPr>
            <a:r>
              <a:rPr sz="1800" b="0">
                <a:solidFill>
                  <a:srgbClr val="4D606C"/>
                </a:solidFill>
                <a:latin typeface="Arial"/>
                <a:ea typeface="Arial"/>
                <a:cs typeface="Arial"/>
              </a:rPr>
              <a:t>Human pooled judgments. Recall and nDCG cover 998 positive pools.</a:t>
            </a:r>
          </a:p>
        </p:txBody>
      </p:sp>
    </p:spTree>
    <p:extLst>
      <p:ext uri="{BB962C8B-B14F-4D97-AF65-F5344CB8AC3E}">
        <p14:creationId xmlns:p14="http://schemas.microsoft.com/office/powerpoint/2010/main" val="14309251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02A9B2-CE2E-473D-B3BF-C76195EEACF2}"/>
              </a:ext>
            </a:extLst>
          </p:cNvPr>
          <p:cNvSpPr>
            <a:spLocks xmlns:a="http://schemas.openxmlformats.org/drawingml/2006/main" noGrp="1"/>
          </p:cNvSpPr>
          <p:nvPr/>
        </p:nvSpPr>
        <p:spPr>
          <a:xfrm xmlns:a="http://schemas.openxmlformats.org/drawingml/2006/main">
            <a:off x="685800" y="49530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2C3B"/>
                </a:solidFill>
                <a:latin typeface="Arial"/>
                <a:ea typeface="Arial"/>
                <a:cs typeface="Arial"/>
              </a:defRPr>
            </a:defPPr>
            <a:lvl1pPr>
              <a:buNone/>
              <a:defRPr sz="3300" b="1">
                <a:solidFill>
                  <a:srgbClr val="172C3B"/>
                </a:solidFill>
                <a:latin typeface="Arial"/>
                <a:ea typeface="Arial"/>
                <a:cs typeface="Arial"/>
              </a:defRPr>
            </a:lvl1pPr>
            <a:lvl2pPr>
              <a:buNone/>
              <a:defRPr sz="3300" b="1">
                <a:solidFill>
                  <a:srgbClr val="172C3B"/>
                </a:solidFill>
                <a:latin typeface="Arial"/>
                <a:ea typeface="Arial"/>
                <a:cs typeface="Arial"/>
              </a:defRPr>
            </a:lvl2pPr>
            <a:lvl3pPr>
              <a:buNone/>
              <a:defRPr sz="3300" b="1">
                <a:solidFill>
                  <a:srgbClr val="172C3B"/>
                </a:solidFill>
                <a:latin typeface="Arial"/>
                <a:ea typeface="Arial"/>
                <a:cs typeface="Arial"/>
              </a:defRPr>
            </a:lvl3pPr>
            <a:lvl4pPr>
              <a:buNone/>
              <a:defRPr sz="3300" b="1">
                <a:solidFill>
                  <a:srgbClr val="172C3B"/>
                </a:solidFill>
                <a:latin typeface="Arial"/>
                <a:ea typeface="Arial"/>
                <a:cs typeface="Arial"/>
              </a:defRPr>
            </a:lvl4pPr>
            <a:lvl5pPr>
              <a:buNone/>
              <a:defRPr sz="3300" b="1">
                <a:solidFill>
                  <a:srgbClr val="172C3B"/>
                </a:solidFill>
                <a:latin typeface="Arial"/>
                <a:ea typeface="Arial"/>
                <a:cs typeface="Arial"/>
              </a:defRPr>
            </a:lvl5pPr>
            <a:lvl6pPr>
              <a:buNone/>
              <a:defRPr sz="3300" b="1">
                <a:solidFill>
                  <a:srgbClr val="172C3B"/>
                </a:solidFill>
                <a:latin typeface="Arial"/>
                <a:ea typeface="Arial"/>
                <a:cs typeface="Arial"/>
              </a:defRPr>
            </a:lvl6pPr>
            <a:lvl7pPr>
              <a:buNone/>
              <a:defRPr sz="3300" b="1">
                <a:solidFill>
                  <a:srgbClr val="172C3B"/>
                </a:solidFill>
                <a:latin typeface="Arial"/>
                <a:ea typeface="Arial"/>
                <a:cs typeface="Arial"/>
              </a:defRPr>
            </a:lvl7pPr>
            <a:lvl8pPr>
              <a:buNone/>
              <a:defRPr sz="3300" b="1">
                <a:solidFill>
                  <a:srgbClr val="172C3B"/>
                </a:solidFill>
                <a:latin typeface="Arial"/>
                <a:ea typeface="Arial"/>
                <a:cs typeface="Arial"/>
              </a:defRPr>
            </a:lvl8pPr>
            <a:lvl9pPr>
              <a:buNone/>
              <a:defRPr sz="3300" b="1">
                <a:solidFill>
                  <a:srgbClr val="172C3B"/>
                </a:solidFill>
                <a:latin typeface="Arial"/>
                <a:ea typeface="Arial"/>
                <a:cs typeface="Arial"/>
              </a:defRPr>
            </a:lvl9pPr>
          </a:lstStyle>
          <a:p xmlns:a="http://schemas.openxmlformats.org/drawingml/2006/main">
            <a:pPr>
              <a:buNone/>
              <a:defRPr sz="3300" b="1">
                <a:solidFill>
                  <a:srgbClr val="172C3B"/>
                </a:solidFill>
                <a:latin typeface="Arial"/>
                <a:ea typeface="Arial"/>
                <a:cs typeface="Arial"/>
              </a:defRPr>
            </a:pPr>
            <a:r>
              <a:rPr sz="3300" b="1">
                <a:solidFill>
                  <a:srgbClr val="172C3B"/>
                </a:solidFill>
                <a:latin typeface="Arial"/>
                <a:ea typeface="Arial"/>
                <a:cs typeface="Arial"/>
              </a:rPr>
              <a:t>Streamlit query smoke test</a:t>
            </a:r>
          </a:p>
        </p:txBody>
      </p:sp>
      <p:sp>
        <p:nvSpPr>
          <p:cNvPr id="2" name="">
            <a:extLst xmlns:a="http://schemas.openxmlformats.org/drawingml/2006/main">
              <a:ext uri="{FF2B5EF4-FFF2-40B4-BE49-F238E27FC236}">
                <a16:creationId xmlns:a16="http://schemas.microsoft.com/office/drawing/2014/main" id="{B8D0F826-D7E9-4C96-A50F-18BD0B9CC4B1}"/>
              </a:ext>
            </a:extLst>
          </p:cNvPr>
          <p:cNvSpPr>
            <a:spLocks xmlns:a="http://schemas.openxmlformats.org/drawingml/2006/main" noGrp="1"/>
          </p:cNvSpPr>
          <p:nvPr/>
        </p:nvSpPr>
        <p:spPr>
          <a:xfrm xmlns:a="http://schemas.openxmlformats.org/drawingml/2006/main">
            <a:off x="685800" y="637222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4D606C"/>
                </a:solidFill>
                <a:latin typeface="Arial"/>
                <a:ea typeface="Arial"/>
                <a:cs typeface="Arial"/>
              </a:defRPr>
            </a:defPPr>
            <a:lvl1pPr>
              <a:buNone/>
              <a:defRPr sz="1800" b="0">
                <a:solidFill>
                  <a:srgbClr val="4D606C"/>
                </a:solidFill>
                <a:latin typeface="Arial"/>
                <a:ea typeface="Arial"/>
                <a:cs typeface="Arial"/>
              </a:defRPr>
            </a:lvl1pPr>
            <a:lvl2pPr>
              <a:buNone/>
              <a:defRPr sz="1800" b="0">
                <a:solidFill>
                  <a:srgbClr val="4D606C"/>
                </a:solidFill>
                <a:latin typeface="Arial"/>
                <a:ea typeface="Arial"/>
                <a:cs typeface="Arial"/>
              </a:defRPr>
            </a:lvl2pPr>
            <a:lvl3pPr>
              <a:buNone/>
              <a:defRPr sz="1800" b="0">
                <a:solidFill>
                  <a:srgbClr val="4D606C"/>
                </a:solidFill>
                <a:latin typeface="Arial"/>
                <a:ea typeface="Arial"/>
                <a:cs typeface="Arial"/>
              </a:defRPr>
            </a:lvl3pPr>
            <a:lvl4pPr>
              <a:buNone/>
              <a:defRPr sz="1800" b="0">
                <a:solidFill>
                  <a:srgbClr val="4D606C"/>
                </a:solidFill>
                <a:latin typeface="Arial"/>
                <a:ea typeface="Arial"/>
                <a:cs typeface="Arial"/>
              </a:defRPr>
            </a:lvl4pPr>
            <a:lvl5pPr>
              <a:buNone/>
              <a:defRPr sz="1800" b="0">
                <a:solidFill>
                  <a:srgbClr val="4D606C"/>
                </a:solidFill>
                <a:latin typeface="Arial"/>
                <a:ea typeface="Arial"/>
                <a:cs typeface="Arial"/>
              </a:defRPr>
            </a:lvl5pPr>
            <a:lvl6pPr>
              <a:buNone/>
              <a:defRPr sz="1800" b="0">
                <a:solidFill>
                  <a:srgbClr val="4D606C"/>
                </a:solidFill>
                <a:latin typeface="Arial"/>
                <a:ea typeface="Arial"/>
                <a:cs typeface="Arial"/>
              </a:defRPr>
            </a:lvl6pPr>
            <a:lvl7pPr>
              <a:buNone/>
              <a:defRPr sz="1800" b="0">
                <a:solidFill>
                  <a:srgbClr val="4D606C"/>
                </a:solidFill>
                <a:latin typeface="Arial"/>
                <a:ea typeface="Arial"/>
                <a:cs typeface="Arial"/>
              </a:defRPr>
            </a:lvl7pPr>
            <a:lvl8pPr>
              <a:buNone/>
              <a:defRPr sz="1800" b="0">
                <a:solidFill>
                  <a:srgbClr val="4D606C"/>
                </a:solidFill>
                <a:latin typeface="Arial"/>
                <a:ea typeface="Arial"/>
                <a:cs typeface="Arial"/>
              </a:defRPr>
            </a:lvl8pPr>
            <a:lvl9pPr>
              <a:buNone/>
              <a:defRPr sz="1800" b="0">
                <a:solidFill>
                  <a:srgbClr val="4D606C"/>
                </a:solidFill>
                <a:latin typeface="Arial"/>
                <a:ea typeface="Arial"/>
                <a:cs typeface="Arial"/>
              </a:defRPr>
            </a:lvl9pPr>
          </a:lstStyle>
          <a:p xmlns:a="http://schemas.openxmlformats.org/drawingml/2006/main">
            <a:pPr>
              <a:buNone/>
              <a:defRPr sz="1800" b="0">
                <a:solidFill>
                  <a:srgbClr val="4D606C"/>
                </a:solidFill>
                <a:latin typeface="Arial"/>
                <a:ea typeface="Arial"/>
                <a:cs typeface="Arial"/>
              </a:defRPr>
            </a:pPr>
            <a:r>
              <a:rPr sz="1800" b="0">
                <a:solidFill>
                  <a:srgbClr val="4D606C"/>
                </a:solidFill>
                <a:latin typeface="Arial"/>
                <a:ea typeface="Arial"/>
                <a:cs typeface="Arial"/>
              </a:rPr>
              <a:t>Human labels / automatic answer judging     9/12</a:t>
            </a:r>
          </a:p>
        </p:txBody>
      </p:sp>
      <p:sp>
        <p:nvSpPr>
          <p:cNvPr id="3" name="">
            <a:extLst xmlns:a="http://schemas.openxmlformats.org/drawingml/2006/main">
              <a:ext uri="{FF2B5EF4-FFF2-40B4-BE49-F238E27FC236}">
                <a16:creationId xmlns:a16="http://schemas.microsoft.com/office/drawing/2014/main" id="{994B1E6C-F27C-4D3D-B7EE-E1B169F803B3}"/>
              </a:ext>
            </a:extLst>
          </p:cNvPr>
          <p:cNvSpPr>
            <a:spLocks xmlns:a="http://schemas.openxmlformats.org/drawingml/2006/main" noGrp="1"/>
          </p:cNvSpPr>
          <p:nvPr/>
        </p:nvSpPr>
        <p:spPr>
          <a:xfrm xmlns:a="http://schemas.openxmlformats.org/drawingml/2006/main">
            <a:off x="685800" y="16954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325" b="1">
                <a:solidFill>
                  <a:srgbClr val="172C3B"/>
                </a:solidFill>
                <a:latin typeface="Arial"/>
                <a:ea typeface="Arial"/>
                <a:cs typeface="Arial"/>
              </a:defRPr>
            </a:defPPr>
            <a:lvl1pPr>
              <a:buNone/>
              <a:defRPr sz="2325" b="1">
                <a:solidFill>
                  <a:srgbClr val="172C3B"/>
                </a:solidFill>
                <a:latin typeface="Arial"/>
                <a:ea typeface="Arial"/>
                <a:cs typeface="Arial"/>
              </a:defRPr>
            </a:lvl1pPr>
            <a:lvl2pPr>
              <a:buNone/>
              <a:defRPr sz="2325" b="1">
                <a:solidFill>
                  <a:srgbClr val="172C3B"/>
                </a:solidFill>
                <a:latin typeface="Arial"/>
                <a:ea typeface="Arial"/>
                <a:cs typeface="Arial"/>
              </a:defRPr>
            </a:lvl2pPr>
            <a:lvl3pPr>
              <a:buNone/>
              <a:defRPr sz="2325" b="1">
                <a:solidFill>
                  <a:srgbClr val="172C3B"/>
                </a:solidFill>
                <a:latin typeface="Arial"/>
                <a:ea typeface="Arial"/>
                <a:cs typeface="Arial"/>
              </a:defRPr>
            </a:lvl3pPr>
            <a:lvl4pPr>
              <a:buNone/>
              <a:defRPr sz="2325" b="1">
                <a:solidFill>
                  <a:srgbClr val="172C3B"/>
                </a:solidFill>
                <a:latin typeface="Arial"/>
                <a:ea typeface="Arial"/>
                <a:cs typeface="Arial"/>
              </a:defRPr>
            </a:lvl4pPr>
            <a:lvl5pPr>
              <a:buNone/>
              <a:defRPr sz="2325" b="1">
                <a:solidFill>
                  <a:srgbClr val="172C3B"/>
                </a:solidFill>
                <a:latin typeface="Arial"/>
                <a:ea typeface="Arial"/>
                <a:cs typeface="Arial"/>
              </a:defRPr>
            </a:lvl5pPr>
            <a:lvl6pPr>
              <a:buNone/>
              <a:defRPr sz="2325" b="1">
                <a:solidFill>
                  <a:srgbClr val="172C3B"/>
                </a:solidFill>
                <a:latin typeface="Arial"/>
                <a:ea typeface="Arial"/>
                <a:cs typeface="Arial"/>
              </a:defRPr>
            </a:lvl6pPr>
            <a:lvl7pPr>
              <a:buNone/>
              <a:defRPr sz="2325" b="1">
                <a:solidFill>
                  <a:srgbClr val="172C3B"/>
                </a:solidFill>
                <a:latin typeface="Arial"/>
                <a:ea typeface="Arial"/>
                <a:cs typeface="Arial"/>
              </a:defRPr>
            </a:lvl7pPr>
            <a:lvl8pPr>
              <a:buNone/>
              <a:defRPr sz="2325" b="1">
                <a:solidFill>
                  <a:srgbClr val="172C3B"/>
                </a:solidFill>
                <a:latin typeface="Arial"/>
                <a:ea typeface="Arial"/>
                <a:cs typeface="Arial"/>
              </a:defRPr>
            </a:lvl8pPr>
            <a:lvl9pPr>
              <a:buNone/>
              <a:defRPr sz="2325" b="1">
                <a:solidFill>
                  <a:srgbClr val="172C3B"/>
                </a:solidFill>
                <a:latin typeface="Arial"/>
                <a:ea typeface="Arial"/>
                <a:cs typeface="Arial"/>
              </a:defRPr>
            </a:lvl9pPr>
          </a:lstStyle>
          <a:p xmlns:a="http://schemas.openxmlformats.org/drawingml/2006/main">
            <a:pPr>
              <a:buNone/>
              <a:defRPr sz="2325" b="1">
                <a:solidFill>
                  <a:srgbClr val="172C3B"/>
                </a:solidFill>
                <a:latin typeface="Arial"/>
                <a:ea typeface="Arial"/>
                <a:cs typeface="Arial"/>
              </a:defRPr>
            </a:pPr>
            <a:r>
              <a:rPr sz="2325" b="1">
                <a:solidFill>
                  <a:srgbClr val="172C3B"/>
                </a:solidFill>
                <a:latin typeface="Arial"/>
                <a:ea typeface="Arial"/>
                <a:cs typeface="Arial"/>
              </a:rPr>
              <a:t>What does EIA project for US crude oil production, and in what units?</a:t>
            </a:r>
          </a:p>
        </p:txBody>
      </p:sp>
      <p:graphicFrame>
        <p:nvGraphicFramePr>
          <p:cNvPr id="4" name="">
            <a:extLst xmlns:a="http://schemas.openxmlformats.org/drawingml/2006/main">
              <a:ext uri="{FF2B5EF4-FFF2-40B4-BE49-F238E27FC236}">
                <a16:creationId xmlns:a16="http://schemas.microsoft.com/office/drawing/2014/main" id="{CC9D64DA-ED6E-4C47-8746-757B105B58F2}"/>
              </a:ext>
            </a:extLst>
          </p:cNvPr>
          <p:cNvGraphicFramePr/>
          <p:nvPr/>
        </p:nvGraphicFramePr>
        <p:xfrm>
          <a:off xmlns:a="http://schemas.openxmlformats.org/drawingml/2006/main" x="685800" y="2847975"/>
          <a:ext xmlns:a="http://schemas.openxmlformats.org/drawingml/2006/main" cx="10820400" cy="2571750"/>
        </p:xfrm>
        <a:graphic xmlns:a="http://schemas.openxmlformats.org/drawingml/2006/main">
          <a:graphicData uri="http://schemas.openxmlformats.org/drawingml/2006/table">
            <a:tbl>
              <a:tblPr firstRow="1" bandRow="0"/>
              <a:tblGrid>
                <a:gridCol w="5905500"/>
                <a:gridCol w="4914900"/>
              </a:tblGrid>
              <a:tr h="514350">
                <a:tc>
                  <a:txBody>
                    <a:bodyPr/>
                    <a:lstStyle/>
                    <a:p>
                      <a:r>
                        <a:rPr sz="2100" b="1">
                          <a:solidFill>
                            <a:srgbClr val="184E6A"/>
                          </a:solidFill>
                          <a:latin typeface="Arial"/>
                          <a:ea typeface="Arial"/>
                          <a:cs typeface="Arial"/>
                        </a:rPr>
                        <a:t>Observed result</a:t>
                      </a:r>
                    </a:p>
                  </a:txBody>
                  <a:tcPr marL="114300" marR="114300" marT="76200" marB="76200"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2100" b="1">
                          <a:solidFill>
                            <a:srgbClr val="184E6A"/>
                          </a:solidFill>
                          <a:latin typeface="Arial"/>
                          <a:ea typeface="Arial"/>
                          <a:cs typeface="Arial"/>
                        </a:rPr>
                        <a:t>One actual Codex query</a:t>
                      </a:r>
                    </a:p>
                  </a:txBody>
                  <a:tcPr marL="114300" marR="114300" marT="76200" marB="762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r>
              <a:tr h="514350">
                <a:tc>
                  <a:txBody>
                    <a:bodyPr/>
                    <a:lstStyle/>
                    <a:p>
                      <a:r>
                        <a:rPr sz="2100">
                          <a:solidFill>
                            <a:srgbClr val="172C3B"/>
                          </a:solidFill>
                          <a:latin typeface="Arial"/>
                          <a:ea typeface="Arial"/>
                          <a:cs typeface="Arial"/>
                        </a:rPr>
                        <a:t>Retrieved evidence</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5</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r h="514350">
                <a:tc>
                  <a:txBody>
                    <a:bodyPr/>
                    <a:lstStyle/>
                    <a:p>
                      <a:r>
                        <a:rPr sz="2100">
                          <a:solidFill>
                            <a:srgbClr val="172C3B"/>
                          </a:solidFill>
                          <a:latin typeface="Arial"/>
                          <a:ea typeface="Arial"/>
                          <a:cs typeface="Arial"/>
                        </a:rPr>
                        <a:t>Answer claims</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2</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r h="514350">
                <a:tc>
                  <a:txBody>
                    <a:bodyPr/>
                    <a:lstStyle/>
                    <a:p>
                      <a:r>
                        <a:rPr sz="2100">
                          <a:solidFill>
                            <a:srgbClr val="172C3B"/>
                          </a:solidFill>
                          <a:latin typeface="Arial"/>
                          <a:ea typeface="Arial"/>
                          <a:cs typeface="Arial"/>
                        </a:rPr>
                        <a:t>Exact quotations</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3</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r h="514350">
                <a:tc>
                  <a:txBody>
                    <a:bodyPr/>
                    <a:lstStyle/>
                    <a:p>
                      <a:r>
                        <a:rPr sz="2100">
                          <a:solidFill>
                            <a:srgbClr val="172C3B"/>
                          </a:solidFill>
                          <a:latin typeface="Arial"/>
                          <a:ea typeface="Arial"/>
                          <a:cs typeface="Arial"/>
                        </a:rPr>
                        <a:t>End-to-end elapsed time</a:t>
                      </a:r>
                    </a:p>
                  </a:txBody>
                  <a:tcPr marL="114300" marR="114300" marT="76200" marB="762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2100">
                          <a:solidFill>
                            <a:srgbClr val="172C3B"/>
                          </a:solidFill>
                          <a:latin typeface="Arial"/>
                          <a:ea typeface="Arial"/>
                          <a:cs typeface="Arial"/>
                        </a:rPr>
                        <a:t>15.918 seconds</a:t>
                      </a:r>
                    </a:p>
                  </a:txBody>
                  <a:tcPr marL="114300" marR="114300" marT="76200" marB="76200" anchor="ctr">
                    <a:lnR w="9525">
                      <a:solidFill>
                        <a:srgbClr val="CFD9DF"/>
                      </a:solidFill>
                      <a:prstDash val="solid"/>
                    </a:lnR>
                    <a:lnB w="9525">
                      <a:solidFill>
                        <a:srgbClr val="CFD9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9B54C03-D482-493A-9FCA-5AA8F6062E75}"/>
              </a:ext>
            </a:extLst>
          </p:cNvPr>
          <p:cNvSpPr>
            <a:spLocks xmlns:a="http://schemas.openxmlformats.org/drawingml/2006/main" noGrp="1"/>
          </p:cNvSpPr>
          <p:nvPr/>
        </p:nvSpPr>
        <p:spPr>
          <a:xfrm xmlns:a="http://schemas.openxmlformats.org/drawingml/2006/main">
            <a:off x="685800" y="5705475"/>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4D606C"/>
                </a:solidFill>
                <a:latin typeface="Arial"/>
                <a:ea typeface="Arial"/>
                <a:cs typeface="Arial"/>
              </a:defRPr>
            </a:defPPr>
            <a:lvl1pPr>
              <a:buNone/>
              <a:defRPr sz="1875" b="0">
                <a:solidFill>
                  <a:srgbClr val="4D606C"/>
                </a:solidFill>
                <a:latin typeface="Arial"/>
                <a:ea typeface="Arial"/>
                <a:cs typeface="Arial"/>
              </a:defRPr>
            </a:lvl1pPr>
            <a:lvl2pPr>
              <a:buNone/>
              <a:defRPr sz="1875" b="0">
                <a:solidFill>
                  <a:srgbClr val="4D606C"/>
                </a:solidFill>
                <a:latin typeface="Arial"/>
                <a:ea typeface="Arial"/>
                <a:cs typeface="Arial"/>
              </a:defRPr>
            </a:lvl2pPr>
            <a:lvl3pPr>
              <a:buNone/>
              <a:defRPr sz="1875" b="0">
                <a:solidFill>
                  <a:srgbClr val="4D606C"/>
                </a:solidFill>
                <a:latin typeface="Arial"/>
                <a:ea typeface="Arial"/>
                <a:cs typeface="Arial"/>
              </a:defRPr>
            </a:lvl3pPr>
            <a:lvl4pPr>
              <a:buNone/>
              <a:defRPr sz="1875" b="0">
                <a:solidFill>
                  <a:srgbClr val="4D606C"/>
                </a:solidFill>
                <a:latin typeface="Arial"/>
                <a:ea typeface="Arial"/>
                <a:cs typeface="Arial"/>
              </a:defRPr>
            </a:lvl4pPr>
            <a:lvl5pPr>
              <a:buNone/>
              <a:defRPr sz="1875" b="0">
                <a:solidFill>
                  <a:srgbClr val="4D606C"/>
                </a:solidFill>
                <a:latin typeface="Arial"/>
                <a:ea typeface="Arial"/>
                <a:cs typeface="Arial"/>
              </a:defRPr>
            </a:lvl5pPr>
            <a:lvl6pPr>
              <a:buNone/>
              <a:defRPr sz="1875" b="0">
                <a:solidFill>
                  <a:srgbClr val="4D606C"/>
                </a:solidFill>
                <a:latin typeface="Arial"/>
                <a:ea typeface="Arial"/>
                <a:cs typeface="Arial"/>
              </a:defRPr>
            </a:lvl6pPr>
            <a:lvl7pPr>
              <a:buNone/>
              <a:defRPr sz="1875" b="0">
                <a:solidFill>
                  <a:srgbClr val="4D606C"/>
                </a:solidFill>
                <a:latin typeface="Arial"/>
                <a:ea typeface="Arial"/>
                <a:cs typeface="Arial"/>
              </a:defRPr>
            </a:lvl7pPr>
            <a:lvl8pPr>
              <a:buNone/>
              <a:defRPr sz="1875" b="0">
                <a:solidFill>
                  <a:srgbClr val="4D606C"/>
                </a:solidFill>
                <a:latin typeface="Arial"/>
                <a:ea typeface="Arial"/>
                <a:cs typeface="Arial"/>
              </a:defRPr>
            </a:lvl8pPr>
            <a:lvl9pPr>
              <a:buNone/>
              <a:defRPr sz="1875" b="0">
                <a:solidFill>
                  <a:srgbClr val="4D606C"/>
                </a:solidFill>
                <a:latin typeface="Arial"/>
                <a:ea typeface="Arial"/>
                <a:cs typeface="Arial"/>
              </a:defRPr>
            </a:lvl9pPr>
          </a:lstStyle>
          <a:p xmlns:a="http://schemas.openxmlformats.org/drawingml/2006/main">
            <a:pPr>
              <a:buNone/>
              <a:defRPr sz="1875" b="0">
                <a:solidFill>
                  <a:srgbClr val="4D606C"/>
                </a:solidFill>
                <a:latin typeface="Arial"/>
                <a:ea typeface="Arial"/>
                <a:cs typeface="Arial"/>
              </a:defRPr>
            </a:pPr>
            <a:r>
              <a:rPr sz="1875" b="0">
                <a:solidFill>
                  <a:srgbClr val="4D606C"/>
                </a:solidFill>
                <a:latin typeface="Arial"/>
                <a:ea typeface="Arial"/>
                <a:cs typeface="Arial"/>
              </a:rPr>
              <a:t>No API-key input. AppTest confirms execution, not full browser interaction.</a:t>
            </a:r>
          </a:p>
        </p:txBody>
      </p:sp>
    </p:spTree>
    <p:extLst>
      <p:ext uri="{BB962C8B-B14F-4D97-AF65-F5344CB8AC3E}">
        <p14:creationId xmlns:p14="http://schemas.microsoft.com/office/powerpoint/2010/main" val="4584060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BF9D2FE-5F1E-4F3F-AEF7-F55B8F7CA99A}"/>
              </a:ext>
            </a:extLst>
          </p:cNvPr>
          <p:cNvSpPr>
            <a:spLocks xmlns:a="http://schemas.openxmlformats.org/drawingml/2006/main" noGrp="1"/>
          </p:cNvSpPr>
          <p:nvPr/>
        </p:nvSpPr>
        <p:spPr>
          <a:xfrm xmlns:a="http://schemas.openxmlformats.org/drawingml/2006/main">
            <a:off x="685800" y="49530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2C3B"/>
                </a:solidFill>
                <a:latin typeface="Arial"/>
                <a:ea typeface="Arial"/>
                <a:cs typeface="Arial"/>
              </a:defRPr>
            </a:defPPr>
            <a:lvl1pPr>
              <a:buNone/>
              <a:defRPr sz="3300" b="1">
                <a:solidFill>
                  <a:srgbClr val="172C3B"/>
                </a:solidFill>
                <a:latin typeface="Arial"/>
                <a:ea typeface="Arial"/>
                <a:cs typeface="Arial"/>
              </a:defRPr>
            </a:lvl1pPr>
            <a:lvl2pPr>
              <a:buNone/>
              <a:defRPr sz="3300" b="1">
                <a:solidFill>
                  <a:srgbClr val="172C3B"/>
                </a:solidFill>
                <a:latin typeface="Arial"/>
                <a:ea typeface="Arial"/>
                <a:cs typeface="Arial"/>
              </a:defRPr>
            </a:lvl2pPr>
            <a:lvl3pPr>
              <a:buNone/>
              <a:defRPr sz="3300" b="1">
                <a:solidFill>
                  <a:srgbClr val="172C3B"/>
                </a:solidFill>
                <a:latin typeface="Arial"/>
                <a:ea typeface="Arial"/>
                <a:cs typeface="Arial"/>
              </a:defRPr>
            </a:lvl3pPr>
            <a:lvl4pPr>
              <a:buNone/>
              <a:defRPr sz="3300" b="1">
                <a:solidFill>
                  <a:srgbClr val="172C3B"/>
                </a:solidFill>
                <a:latin typeface="Arial"/>
                <a:ea typeface="Arial"/>
                <a:cs typeface="Arial"/>
              </a:defRPr>
            </a:lvl4pPr>
            <a:lvl5pPr>
              <a:buNone/>
              <a:defRPr sz="3300" b="1">
                <a:solidFill>
                  <a:srgbClr val="172C3B"/>
                </a:solidFill>
                <a:latin typeface="Arial"/>
                <a:ea typeface="Arial"/>
                <a:cs typeface="Arial"/>
              </a:defRPr>
            </a:lvl5pPr>
            <a:lvl6pPr>
              <a:buNone/>
              <a:defRPr sz="3300" b="1">
                <a:solidFill>
                  <a:srgbClr val="172C3B"/>
                </a:solidFill>
                <a:latin typeface="Arial"/>
                <a:ea typeface="Arial"/>
                <a:cs typeface="Arial"/>
              </a:defRPr>
            </a:lvl6pPr>
            <a:lvl7pPr>
              <a:buNone/>
              <a:defRPr sz="3300" b="1">
                <a:solidFill>
                  <a:srgbClr val="172C3B"/>
                </a:solidFill>
                <a:latin typeface="Arial"/>
                <a:ea typeface="Arial"/>
                <a:cs typeface="Arial"/>
              </a:defRPr>
            </a:lvl7pPr>
            <a:lvl8pPr>
              <a:buNone/>
              <a:defRPr sz="3300" b="1">
                <a:solidFill>
                  <a:srgbClr val="172C3B"/>
                </a:solidFill>
                <a:latin typeface="Arial"/>
                <a:ea typeface="Arial"/>
                <a:cs typeface="Arial"/>
              </a:defRPr>
            </a:lvl8pPr>
            <a:lvl9pPr>
              <a:buNone/>
              <a:defRPr sz="3300" b="1">
                <a:solidFill>
                  <a:srgbClr val="172C3B"/>
                </a:solidFill>
                <a:latin typeface="Arial"/>
                <a:ea typeface="Arial"/>
                <a:cs typeface="Arial"/>
              </a:defRPr>
            </a:lvl9pPr>
          </a:lstStyle>
          <a:p xmlns:a="http://schemas.openxmlformats.org/drawingml/2006/main">
            <a:pPr>
              <a:buNone/>
              <a:defRPr sz="3300" b="1">
                <a:solidFill>
                  <a:srgbClr val="172C3B"/>
                </a:solidFill>
                <a:latin typeface="Arial"/>
                <a:ea typeface="Arial"/>
                <a:cs typeface="Arial"/>
              </a:defRPr>
            </a:pPr>
            <a:r>
              <a:rPr sz="3300" b="1">
                <a:solidFill>
                  <a:srgbClr val="172C3B"/>
                </a:solidFill>
                <a:latin typeface="Arial"/>
                <a:ea typeface="Arial"/>
                <a:cs typeface="Arial"/>
              </a:rPr>
              <a:t>Answers on 100 TEST questions</a:t>
            </a:r>
          </a:p>
        </p:txBody>
      </p:sp>
      <p:sp>
        <p:nvSpPr>
          <p:cNvPr id="2" name="">
            <a:extLst xmlns:a="http://schemas.openxmlformats.org/drawingml/2006/main">
              <a:ext uri="{FF2B5EF4-FFF2-40B4-BE49-F238E27FC236}">
                <a16:creationId xmlns:a16="http://schemas.microsoft.com/office/drawing/2014/main" id="{EF3F9897-2F95-4124-A355-D2ADEE7EE6A1}"/>
              </a:ext>
            </a:extLst>
          </p:cNvPr>
          <p:cNvSpPr>
            <a:spLocks xmlns:a="http://schemas.openxmlformats.org/drawingml/2006/main" noGrp="1"/>
          </p:cNvSpPr>
          <p:nvPr/>
        </p:nvSpPr>
        <p:spPr>
          <a:xfrm xmlns:a="http://schemas.openxmlformats.org/drawingml/2006/main">
            <a:off x="685800" y="637222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4D606C"/>
                </a:solidFill>
                <a:latin typeface="Arial"/>
                <a:ea typeface="Arial"/>
                <a:cs typeface="Arial"/>
              </a:defRPr>
            </a:defPPr>
            <a:lvl1pPr>
              <a:buNone/>
              <a:defRPr sz="1800" b="0">
                <a:solidFill>
                  <a:srgbClr val="4D606C"/>
                </a:solidFill>
                <a:latin typeface="Arial"/>
                <a:ea typeface="Arial"/>
                <a:cs typeface="Arial"/>
              </a:defRPr>
            </a:lvl1pPr>
            <a:lvl2pPr>
              <a:buNone/>
              <a:defRPr sz="1800" b="0">
                <a:solidFill>
                  <a:srgbClr val="4D606C"/>
                </a:solidFill>
                <a:latin typeface="Arial"/>
                <a:ea typeface="Arial"/>
                <a:cs typeface="Arial"/>
              </a:defRPr>
            </a:lvl2pPr>
            <a:lvl3pPr>
              <a:buNone/>
              <a:defRPr sz="1800" b="0">
                <a:solidFill>
                  <a:srgbClr val="4D606C"/>
                </a:solidFill>
                <a:latin typeface="Arial"/>
                <a:ea typeface="Arial"/>
                <a:cs typeface="Arial"/>
              </a:defRPr>
            </a:lvl3pPr>
            <a:lvl4pPr>
              <a:buNone/>
              <a:defRPr sz="1800" b="0">
                <a:solidFill>
                  <a:srgbClr val="4D606C"/>
                </a:solidFill>
                <a:latin typeface="Arial"/>
                <a:ea typeface="Arial"/>
                <a:cs typeface="Arial"/>
              </a:defRPr>
            </a:lvl4pPr>
            <a:lvl5pPr>
              <a:buNone/>
              <a:defRPr sz="1800" b="0">
                <a:solidFill>
                  <a:srgbClr val="4D606C"/>
                </a:solidFill>
                <a:latin typeface="Arial"/>
                <a:ea typeface="Arial"/>
                <a:cs typeface="Arial"/>
              </a:defRPr>
            </a:lvl5pPr>
            <a:lvl6pPr>
              <a:buNone/>
              <a:defRPr sz="1800" b="0">
                <a:solidFill>
                  <a:srgbClr val="4D606C"/>
                </a:solidFill>
                <a:latin typeface="Arial"/>
                <a:ea typeface="Arial"/>
                <a:cs typeface="Arial"/>
              </a:defRPr>
            </a:lvl6pPr>
            <a:lvl7pPr>
              <a:buNone/>
              <a:defRPr sz="1800" b="0">
                <a:solidFill>
                  <a:srgbClr val="4D606C"/>
                </a:solidFill>
                <a:latin typeface="Arial"/>
                <a:ea typeface="Arial"/>
                <a:cs typeface="Arial"/>
              </a:defRPr>
            </a:lvl7pPr>
            <a:lvl8pPr>
              <a:buNone/>
              <a:defRPr sz="1800" b="0">
                <a:solidFill>
                  <a:srgbClr val="4D606C"/>
                </a:solidFill>
                <a:latin typeface="Arial"/>
                <a:ea typeface="Arial"/>
                <a:cs typeface="Arial"/>
              </a:defRPr>
            </a:lvl8pPr>
            <a:lvl9pPr>
              <a:buNone/>
              <a:defRPr sz="1800" b="0">
                <a:solidFill>
                  <a:srgbClr val="4D606C"/>
                </a:solidFill>
                <a:latin typeface="Arial"/>
                <a:ea typeface="Arial"/>
                <a:cs typeface="Arial"/>
              </a:defRPr>
            </a:lvl9pPr>
          </a:lstStyle>
          <a:p xmlns:a="http://schemas.openxmlformats.org/drawingml/2006/main">
            <a:pPr>
              <a:buNone/>
              <a:defRPr sz="1800" b="0">
                <a:solidFill>
                  <a:srgbClr val="4D606C"/>
                </a:solidFill>
                <a:latin typeface="Arial"/>
                <a:ea typeface="Arial"/>
                <a:cs typeface="Arial"/>
              </a:defRPr>
            </a:pPr>
            <a:r>
              <a:rPr sz="1800" b="0">
                <a:solidFill>
                  <a:srgbClr val="4D606C"/>
                </a:solidFill>
                <a:latin typeface="Arial"/>
                <a:ea typeface="Arial"/>
                <a:cs typeface="Arial"/>
              </a:rPr>
              <a:t>Human labels / automatic answer judging     10/12</a:t>
            </a:r>
          </a:p>
        </p:txBody>
      </p:sp>
      <p:graphicFrame>
        <p:nvGraphicFramePr>
          <p:cNvPr id="3" name="">
            <a:extLst xmlns:a="http://schemas.openxmlformats.org/drawingml/2006/main">
              <a:ext uri="{FF2B5EF4-FFF2-40B4-BE49-F238E27FC236}">
                <a16:creationId xmlns:a16="http://schemas.microsoft.com/office/drawing/2014/main" id="{A4E050B3-1E0E-4F57-9682-DD92C357EAB2}"/>
              </a:ext>
            </a:extLst>
          </p:cNvPr>
          <p:cNvGraphicFramePr/>
          <p:nvPr/>
        </p:nvGraphicFramePr>
        <p:xfrm>
          <a:off xmlns:a="http://schemas.openxmlformats.org/drawingml/2006/main" x="685800" y="1676400"/>
          <a:ext xmlns:a="http://schemas.openxmlformats.org/drawingml/2006/main" cx="10820400" cy="3800475"/>
        </p:xfrm>
        <a:graphic xmlns:a="http://schemas.openxmlformats.org/drawingml/2006/main">
          <a:graphicData uri="http://schemas.openxmlformats.org/drawingml/2006/table">
            <a:tbl>
              <a:tblPr firstRow="1" bandRow="0"/>
              <a:tblGrid>
                <a:gridCol w="2571750"/>
                <a:gridCol w="2343150"/>
                <a:gridCol w="2381250"/>
                <a:gridCol w="2381250"/>
                <a:gridCol w="1143000"/>
              </a:tblGrid>
              <a:tr h="542925">
                <a:tc>
                  <a:txBody>
                    <a:bodyPr/>
                    <a:lstStyle/>
                    <a:p>
                      <a:r>
                        <a:rPr sz="1800" b="1">
                          <a:solidFill>
                            <a:srgbClr val="184E6A"/>
                          </a:solidFill>
                          <a:latin typeface="Arial"/>
                          <a:ea typeface="Arial"/>
                          <a:cs typeface="Arial"/>
                        </a:rPr>
                        <a:t>Variant</a:t>
                      </a:r>
                    </a:p>
                  </a:txBody>
                  <a:tcPr marL="114300" marR="114300" marT="38100" marB="38100"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1800" b="1">
                          <a:solidFill>
                            <a:srgbClr val="184E6A"/>
                          </a:solidFill>
                          <a:latin typeface="Arial"/>
                          <a:ea typeface="Arial"/>
                          <a:cs typeface="Arial"/>
                        </a:rPr>
                        <a:t>Ordinal mean</a:t>
                      </a:r>
                    </a:p>
                    <a:p>
                      <a:r>
                        <a:rPr sz="1800" b="1">
                          <a:solidFill>
                            <a:srgbClr val="184E6A"/>
                          </a:solidFill>
                          <a:latin typeface="Arial"/>
                          <a:ea typeface="Arial"/>
                          <a:cs typeface="Arial"/>
                        </a:rPr>
                        <a:t>(score / 2)</a:t>
                      </a:r>
                    </a:p>
                  </a:txBody>
                  <a:tcPr marL="114300" marR="114300" marT="38100" marB="381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1800" b="1">
                          <a:solidFill>
                            <a:srgbClr val="184E6A"/>
                          </a:solidFill>
                          <a:latin typeface="Arial"/>
                          <a:ea typeface="Arial"/>
                          <a:cs typeface="Arial"/>
                        </a:rPr>
                        <a:t>Claim</a:t>
                      </a:r>
                    </a:p>
                    <a:p>
                      <a:r>
                        <a:rPr sz="1800" b="1">
                          <a:solidFill>
                            <a:srgbClr val="184E6A"/>
                          </a:solidFill>
                          <a:latin typeface="Arial"/>
                          <a:ea typeface="Arial"/>
                          <a:cs typeface="Arial"/>
                        </a:rPr>
                        <a:t>support</a:t>
                      </a:r>
                    </a:p>
                  </a:txBody>
                  <a:tcPr marL="114300" marR="114300" marT="38100" marB="381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1800" b="1">
                          <a:solidFill>
                            <a:srgbClr val="184E6A"/>
                          </a:solidFill>
                          <a:latin typeface="Arial"/>
                          <a:ea typeface="Arial"/>
                          <a:cs typeface="Arial"/>
                        </a:rPr>
                        <a:t>Citation</a:t>
                      </a:r>
                    </a:p>
                    <a:p>
                      <a:r>
                        <a:rPr sz="1800" b="1">
                          <a:solidFill>
                            <a:srgbClr val="184E6A"/>
                          </a:solidFill>
                          <a:latin typeface="Arial"/>
                          <a:ea typeface="Arial"/>
                          <a:cs typeface="Arial"/>
                        </a:rPr>
                        <a:t>support</a:t>
                      </a:r>
                    </a:p>
                  </a:txBody>
                  <a:tcPr marL="114300" marR="114300" marT="38100" marB="381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1800" b="1">
                          <a:solidFill>
                            <a:srgbClr val="184E6A"/>
                          </a:solidFill>
                          <a:latin typeface="Arial"/>
                          <a:ea typeface="Arial"/>
                          <a:cs typeface="Arial"/>
                        </a:rPr>
                        <a:t>Future</a:t>
                      </a:r>
                    </a:p>
                    <a:p>
                      <a:r>
                        <a:rPr sz="1800" b="1">
                          <a:solidFill>
                            <a:srgbClr val="184E6A"/>
                          </a:solidFill>
                          <a:latin typeface="Arial"/>
                          <a:ea typeface="Arial"/>
                          <a:cs typeface="Arial"/>
                        </a:rPr>
                        <a:t>hits</a:t>
                      </a:r>
                    </a:p>
                  </a:txBody>
                  <a:tcPr marL="114300" marR="114300" marT="38100" marB="381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r>
              <a:tr h="542925">
                <a:tc>
                  <a:txBody>
                    <a:bodyPr/>
                    <a:lstStyle/>
                    <a:p>
                      <a:r>
                        <a:rPr sz="1800">
                          <a:solidFill>
                            <a:srgbClr val="172C3B"/>
                          </a:solidFill>
                          <a:latin typeface="Arial"/>
                          <a:ea typeface="Arial"/>
                          <a:cs typeface="Arial"/>
                        </a:rPr>
                        <a:t>BM25</a:t>
                      </a:r>
                    </a:p>
                  </a:txBody>
                  <a:tcPr marL="114300" marR="114300" marT="38100" marB="381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0.965</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99.39%</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99.39%</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186</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r>
              <a:tr h="542925">
                <a:tc>
                  <a:txBody>
                    <a:bodyPr/>
                    <a:lstStyle/>
                    <a:p>
                      <a:r>
                        <a:rPr sz="1800">
                          <a:solidFill>
                            <a:srgbClr val="172C3B"/>
                          </a:solidFill>
                          <a:latin typeface="Arial"/>
                          <a:ea typeface="Arial"/>
                          <a:cs typeface="Arial"/>
                        </a:rPr>
                        <a:t>Dense</a:t>
                      </a:r>
                    </a:p>
                  </a:txBody>
                  <a:tcPr marL="114300" marR="114300" marT="38100" marB="381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0.970</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99.35%</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97.42%</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156</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r>
              <a:tr h="542925">
                <a:tc>
                  <a:txBody>
                    <a:bodyPr/>
                    <a:lstStyle/>
                    <a:p>
                      <a:r>
                        <a:rPr sz="1800">
                          <a:solidFill>
                            <a:srgbClr val="172C3B"/>
                          </a:solidFill>
                          <a:latin typeface="Arial"/>
                          <a:ea typeface="Arial"/>
                          <a:cs typeface="Arial"/>
                        </a:rPr>
                        <a:t>Hybrid base</a:t>
                      </a:r>
                    </a:p>
                  </a:txBody>
                  <a:tcPr marL="114300" marR="114300" marT="38100" marB="381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0.965</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99.42%</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99.42%</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166</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r>
              <a:tr h="542925">
                <a:tc>
                  <a:txBody>
                    <a:bodyPr/>
                    <a:lstStyle/>
                    <a:p>
                      <a:r>
                        <a:rPr sz="1800">
                          <a:solidFill>
                            <a:srgbClr val="172C3B"/>
                          </a:solidFill>
                          <a:latin typeface="Arial"/>
                          <a:ea typeface="Arial"/>
                          <a:cs typeface="Arial"/>
                        </a:rPr>
                        <a:t>Hybrid + A</a:t>
                      </a:r>
                    </a:p>
                  </a:txBody>
                  <a:tcPr marL="114300" marR="114300" marT="38100" marB="381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0.985</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99.46%</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98.41%</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r>
              <a:tr h="542925">
                <a:tc>
                  <a:txBody>
                    <a:bodyPr/>
                    <a:lstStyle/>
                    <a:p>
                      <a:r>
                        <a:rPr sz="1800">
                          <a:solidFill>
                            <a:srgbClr val="172C3B"/>
                          </a:solidFill>
                          <a:latin typeface="Arial"/>
                          <a:ea typeface="Arial"/>
                          <a:cs typeface="Arial"/>
                        </a:rPr>
                        <a:t>Hybrid + B</a:t>
                      </a:r>
                    </a:p>
                  </a:txBody>
                  <a:tcPr marL="114300" marR="114300" marT="38100" marB="381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0.970</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99.42%</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99.42%</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166</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r>
              <a:tr h="542925">
                <a:tc>
                  <a:txBody>
                    <a:bodyPr/>
                    <a:lstStyle/>
                    <a:p>
                      <a:r>
                        <a:rPr sz="1800">
                          <a:solidFill>
                            <a:srgbClr val="172C3B"/>
                          </a:solidFill>
                          <a:latin typeface="Arial"/>
                          <a:ea typeface="Arial"/>
                          <a:cs typeface="Arial"/>
                        </a:rPr>
                        <a:t>Hybrid + A + B</a:t>
                      </a:r>
                    </a:p>
                  </a:txBody>
                  <a:tcPr marL="114300" marR="114300" marT="38100" marB="381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0.985</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99.46%</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98.41%</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00">
                          <a:solidFill>
                            <a:srgbClr val="172C3B"/>
                          </a:solidFill>
                          <a:latin typeface="Arial"/>
                          <a:ea typeface="Arial"/>
                          <a:cs typeface="Arial"/>
                        </a:rPr>
                        <a:t>0</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D556A21-1DA3-4B52-B4EB-0F00638A3038}"/>
              </a:ext>
            </a:extLst>
          </p:cNvPr>
          <p:cNvSpPr>
            <a:spLocks xmlns:a="http://schemas.openxmlformats.org/drawingml/2006/main" noGrp="1"/>
          </p:cNvSpPr>
          <p:nvPr/>
        </p:nvSpPr>
        <p:spPr>
          <a:xfrm xmlns:a="http://schemas.openxmlformats.org/drawingml/2006/main">
            <a:off x="685800" y="5591175"/>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172C3B"/>
                </a:solidFill>
                <a:latin typeface="Arial"/>
                <a:ea typeface="Arial"/>
                <a:cs typeface="Arial"/>
              </a:defRPr>
            </a:defPPr>
            <a:lvl1pPr>
              <a:buNone/>
              <a:defRPr sz="1950" b="0">
                <a:solidFill>
                  <a:srgbClr val="172C3B"/>
                </a:solidFill>
                <a:latin typeface="Arial"/>
                <a:ea typeface="Arial"/>
                <a:cs typeface="Arial"/>
              </a:defRPr>
            </a:lvl1pPr>
            <a:lvl2pPr>
              <a:buNone/>
              <a:defRPr sz="1950" b="0">
                <a:solidFill>
                  <a:srgbClr val="172C3B"/>
                </a:solidFill>
                <a:latin typeface="Arial"/>
                <a:ea typeface="Arial"/>
                <a:cs typeface="Arial"/>
              </a:defRPr>
            </a:lvl2pPr>
            <a:lvl3pPr>
              <a:buNone/>
              <a:defRPr sz="1950" b="0">
                <a:solidFill>
                  <a:srgbClr val="172C3B"/>
                </a:solidFill>
                <a:latin typeface="Arial"/>
                <a:ea typeface="Arial"/>
                <a:cs typeface="Arial"/>
              </a:defRPr>
            </a:lvl3pPr>
            <a:lvl4pPr>
              <a:buNone/>
              <a:defRPr sz="1950" b="0">
                <a:solidFill>
                  <a:srgbClr val="172C3B"/>
                </a:solidFill>
                <a:latin typeface="Arial"/>
                <a:ea typeface="Arial"/>
                <a:cs typeface="Arial"/>
              </a:defRPr>
            </a:lvl4pPr>
            <a:lvl5pPr>
              <a:buNone/>
              <a:defRPr sz="1950" b="0">
                <a:solidFill>
                  <a:srgbClr val="172C3B"/>
                </a:solidFill>
                <a:latin typeface="Arial"/>
                <a:ea typeface="Arial"/>
                <a:cs typeface="Arial"/>
              </a:defRPr>
            </a:lvl5pPr>
            <a:lvl6pPr>
              <a:buNone/>
              <a:defRPr sz="1950" b="0">
                <a:solidFill>
                  <a:srgbClr val="172C3B"/>
                </a:solidFill>
                <a:latin typeface="Arial"/>
                <a:ea typeface="Arial"/>
                <a:cs typeface="Arial"/>
              </a:defRPr>
            </a:lvl6pPr>
            <a:lvl7pPr>
              <a:buNone/>
              <a:defRPr sz="1950" b="0">
                <a:solidFill>
                  <a:srgbClr val="172C3B"/>
                </a:solidFill>
                <a:latin typeface="Arial"/>
                <a:ea typeface="Arial"/>
                <a:cs typeface="Arial"/>
              </a:defRPr>
            </a:lvl7pPr>
            <a:lvl8pPr>
              <a:buNone/>
              <a:defRPr sz="1950" b="0">
                <a:solidFill>
                  <a:srgbClr val="172C3B"/>
                </a:solidFill>
                <a:latin typeface="Arial"/>
                <a:ea typeface="Arial"/>
                <a:cs typeface="Arial"/>
              </a:defRPr>
            </a:lvl8pPr>
            <a:lvl9pPr>
              <a:buNone/>
              <a:defRPr sz="1950" b="0">
                <a:solidFill>
                  <a:srgbClr val="172C3B"/>
                </a:solidFill>
                <a:latin typeface="Arial"/>
                <a:ea typeface="Arial"/>
                <a:cs typeface="Arial"/>
              </a:defRPr>
            </a:lvl9pPr>
          </a:lstStyle>
          <a:p xmlns:a="http://schemas.openxmlformats.org/drawingml/2006/main">
            <a:pPr>
              <a:buNone/>
              <a:defRPr sz="1950" b="0">
                <a:solidFill>
                  <a:srgbClr val="172C3B"/>
                </a:solidFill>
                <a:latin typeface="Arial"/>
                <a:ea typeface="Arial"/>
                <a:cs typeface="Arial"/>
              </a:defRPr>
            </a:pPr>
            <a:r>
              <a:rPr sz="1950" b="0">
                <a:solidFill>
                  <a:srgbClr val="172C3B"/>
                </a:solidFill>
                <a:latin typeface="Arial"/>
                <a:ea typeface="Arial"/>
                <a:cs typeface="Arial"/>
              </a:rPr>
              <a:t>B changes 0/100 answers, with or without A. No observed B benefit.</a:t>
            </a:r>
          </a:p>
        </p:txBody>
      </p:sp>
      <p:sp>
        <p:nvSpPr>
          <p:cNvPr id="5" name="">
            <a:extLst xmlns:a="http://schemas.openxmlformats.org/drawingml/2006/main">
              <a:ext uri="{FF2B5EF4-FFF2-40B4-BE49-F238E27FC236}">
                <a16:creationId xmlns:a16="http://schemas.microsoft.com/office/drawing/2014/main" id="{EE38B7D2-E9C9-4694-A4E2-493252987561}"/>
              </a:ext>
            </a:extLst>
          </p:cNvPr>
          <p:cNvSpPr>
            <a:spLocks xmlns:a="http://schemas.openxmlformats.org/drawingml/2006/main" noGrp="1"/>
          </p:cNvSpPr>
          <p:nvPr/>
        </p:nvSpPr>
        <p:spPr>
          <a:xfrm xmlns:a="http://schemas.openxmlformats.org/drawingml/2006/main">
            <a:off x="685800" y="5981700"/>
            <a:ext cx="108204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4D606C"/>
                </a:solidFill>
                <a:latin typeface="Arial"/>
                <a:ea typeface="Arial"/>
                <a:cs typeface="Arial"/>
              </a:defRPr>
            </a:defPPr>
            <a:lvl1pPr>
              <a:buNone/>
              <a:defRPr sz="1800" b="0">
                <a:solidFill>
                  <a:srgbClr val="4D606C"/>
                </a:solidFill>
                <a:latin typeface="Arial"/>
                <a:ea typeface="Arial"/>
                <a:cs typeface="Arial"/>
              </a:defRPr>
            </a:lvl1pPr>
            <a:lvl2pPr>
              <a:buNone/>
              <a:defRPr sz="1800" b="0">
                <a:solidFill>
                  <a:srgbClr val="4D606C"/>
                </a:solidFill>
                <a:latin typeface="Arial"/>
                <a:ea typeface="Arial"/>
                <a:cs typeface="Arial"/>
              </a:defRPr>
            </a:lvl2pPr>
            <a:lvl3pPr>
              <a:buNone/>
              <a:defRPr sz="1800" b="0">
                <a:solidFill>
                  <a:srgbClr val="4D606C"/>
                </a:solidFill>
                <a:latin typeface="Arial"/>
                <a:ea typeface="Arial"/>
                <a:cs typeface="Arial"/>
              </a:defRPr>
            </a:lvl3pPr>
            <a:lvl4pPr>
              <a:buNone/>
              <a:defRPr sz="1800" b="0">
                <a:solidFill>
                  <a:srgbClr val="4D606C"/>
                </a:solidFill>
                <a:latin typeface="Arial"/>
                <a:ea typeface="Arial"/>
                <a:cs typeface="Arial"/>
              </a:defRPr>
            </a:lvl4pPr>
            <a:lvl5pPr>
              <a:buNone/>
              <a:defRPr sz="1800" b="0">
                <a:solidFill>
                  <a:srgbClr val="4D606C"/>
                </a:solidFill>
                <a:latin typeface="Arial"/>
                <a:ea typeface="Arial"/>
                <a:cs typeface="Arial"/>
              </a:defRPr>
            </a:lvl5pPr>
            <a:lvl6pPr>
              <a:buNone/>
              <a:defRPr sz="1800" b="0">
                <a:solidFill>
                  <a:srgbClr val="4D606C"/>
                </a:solidFill>
                <a:latin typeface="Arial"/>
                <a:ea typeface="Arial"/>
                <a:cs typeface="Arial"/>
              </a:defRPr>
            </a:lvl6pPr>
            <a:lvl7pPr>
              <a:buNone/>
              <a:defRPr sz="1800" b="0">
                <a:solidFill>
                  <a:srgbClr val="4D606C"/>
                </a:solidFill>
                <a:latin typeface="Arial"/>
                <a:ea typeface="Arial"/>
                <a:cs typeface="Arial"/>
              </a:defRPr>
            </a:lvl7pPr>
            <a:lvl8pPr>
              <a:buNone/>
              <a:defRPr sz="1800" b="0">
                <a:solidFill>
                  <a:srgbClr val="4D606C"/>
                </a:solidFill>
                <a:latin typeface="Arial"/>
                <a:ea typeface="Arial"/>
                <a:cs typeface="Arial"/>
              </a:defRPr>
            </a:lvl8pPr>
            <a:lvl9pPr>
              <a:buNone/>
              <a:defRPr sz="1800" b="0">
                <a:solidFill>
                  <a:srgbClr val="4D606C"/>
                </a:solidFill>
                <a:latin typeface="Arial"/>
                <a:ea typeface="Arial"/>
                <a:cs typeface="Arial"/>
              </a:defRPr>
            </a:lvl9pPr>
          </a:lstStyle>
          <a:p xmlns:a="http://schemas.openxmlformats.org/drawingml/2006/main">
            <a:pPr>
              <a:buNone/>
              <a:defRPr sz="1800" b="0">
                <a:solidFill>
                  <a:srgbClr val="4D606C"/>
                </a:solidFill>
                <a:latin typeface="Arial"/>
                <a:ea typeface="Arial"/>
                <a:cs typeface="Arial"/>
              </a:defRPr>
            </a:pPr>
            <a:r>
              <a:rPr sz="1800" b="0">
                <a:solidFill>
                  <a:srgbClr val="4D606C"/>
                </a:solidFill>
                <a:latin typeface="Arial"/>
                <a:ea typeface="Arial"/>
                <a:cs typeface="Arial"/>
              </a:rPr>
              <a:t>100 questions per variant; support denominators vary. Not human accuracy.</a:t>
            </a:r>
          </a:p>
        </p:txBody>
      </p:sp>
    </p:spTree>
    <p:extLst>
      <p:ext uri="{BB962C8B-B14F-4D97-AF65-F5344CB8AC3E}">
        <p14:creationId xmlns:p14="http://schemas.microsoft.com/office/powerpoint/2010/main" val="3600070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FECE1A-08E4-4A0F-8DDC-F4ADBA2192DA}"/>
              </a:ext>
            </a:extLst>
          </p:cNvPr>
          <p:cNvSpPr>
            <a:spLocks xmlns:a="http://schemas.openxmlformats.org/drawingml/2006/main" noGrp="1"/>
          </p:cNvSpPr>
          <p:nvPr/>
        </p:nvSpPr>
        <p:spPr>
          <a:xfrm xmlns:a="http://schemas.openxmlformats.org/drawingml/2006/main">
            <a:off x="685800" y="49530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2C3B"/>
                </a:solidFill>
                <a:latin typeface="Arial"/>
                <a:ea typeface="Arial"/>
                <a:cs typeface="Arial"/>
              </a:defRPr>
            </a:defPPr>
            <a:lvl1pPr>
              <a:buNone/>
              <a:defRPr sz="3300" b="1">
                <a:solidFill>
                  <a:srgbClr val="172C3B"/>
                </a:solidFill>
                <a:latin typeface="Arial"/>
                <a:ea typeface="Arial"/>
                <a:cs typeface="Arial"/>
              </a:defRPr>
            </a:lvl1pPr>
            <a:lvl2pPr>
              <a:buNone/>
              <a:defRPr sz="3300" b="1">
                <a:solidFill>
                  <a:srgbClr val="172C3B"/>
                </a:solidFill>
                <a:latin typeface="Arial"/>
                <a:ea typeface="Arial"/>
                <a:cs typeface="Arial"/>
              </a:defRPr>
            </a:lvl2pPr>
            <a:lvl3pPr>
              <a:buNone/>
              <a:defRPr sz="3300" b="1">
                <a:solidFill>
                  <a:srgbClr val="172C3B"/>
                </a:solidFill>
                <a:latin typeface="Arial"/>
                <a:ea typeface="Arial"/>
                <a:cs typeface="Arial"/>
              </a:defRPr>
            </a:lvl3pPr>
            <a:lvl4pPr>
              <a:buNone/>
              <a:defRPr sz="3300" b="1">
                <a:solidFill>
                  <a:srgbClr val="172C3B"/>
                </a:solidFill>
                <a:latin typeface="Arial"/>
                <a:ea typeface="Arial"/>
                <a:cs typeface="Arial"/>
              </a:defRPr>
            </a:lvl4pPr>
            <a:lvl5pPr>
              <a:buNone/>
              <a:defRPr sz="3300" b="1">
                <a:solidFill>
                  <a:srgbClr val="172C3B"/>
                </a:solidFill>
                <a:latin typeface="Arial"/>
                <a:ea typeface="Arial"/>
                <a:cs typeface="Arial"/>
              </a:defRPr>
            </a:lvl5pPr>
            <a:lvl6pPr>
              <a:buNone/>
              <a:defRPr sz="3300" b="1">
                <a:solidFill>
                  <a:srgbClr val="172C3B"/>
                </a:solidFill>
                <a:latin typeface="Arial"/>
                <a:ea typeface="Arial"/>
                <a:cs typeface="Arial"/>
              </a:defRPr>
            </a:lvl6pPr>
            <a:lvl7pPr>
              <a:buNone/>
              <a:defRPr sz="3300" b="1">
                <a:solidFill>
                  <a:srgbClr val="172C3B"/>
                </a:solidFill>
                <a:latin typeface="Arial"/>
                <a:ea typeface="Arial"/>
                <a:cs typeface="Arial"/>
              </a:defRPr>
            </a:lvl7pPr>
            <a:lvl8pPr>
              <a:buNone/>
              <a:defRPr sz="3300" b="1">
                <a:solidFill>
                  <a:srgbClr val="172C3B"/>
                </a:solidFill>
                <a:latin typeface="Arial"/>
                <a:ea typeface="Arial"/>
                <a:cs typeface="Arial"/>
              </a:defRPr>
            </a:lvl8pPr>
            <a:lvl9pPr>
              <a:buNone/>
              <a:defRPr sz="3300" b="1">
                <a:solidFill>
                  <a:srgbClr val="172C3B"/>
                </a:solidFill>
                <a:latin typeface="Arial"/>
                <a:ea typeface="Arial"/>
                <a:cs typeface="Arial"/>
              </a:defRPr>
            </a:lvl9pPr>
          </a:lstStyle>
          <a:p xmlns:a="http://schemas.openxmlformats.org/drawingml/2006/main">
            <a:pPr>
              <a:buNone/>
              <a:defRPr sz="3300" b="1">
                <a:solidFill>
                  <a:srgbClr val="172C3B"/>
                </a:solidFill>
                <a:latin typeface="Arial"/>
                <a:ea typeface="Arial"/>
                <a:cs typeface="Arial"/>
              </a:defRPr>
            </a:pPr>
            <a:r>
              <a:rPr sz="3300" b="1">
                <a:solidFill>
                  <a:srgbClr val="172C3B"/>
                </a:solidFill>
                <a:latin typeface="Arial"/>
                <a:ea typeface="Arial"/>
                <a:cs typeface="Arial"/>
              </a:rPr>
              <a:t>Failure cases and unresolved risks</a:t>
            </a:r>
          </a:p>
        </p:txBody>
      </p:sp>
      <p:sp>
        <p:nvSpPr>
          <p:cNvPr id="2" name="">
            <a:extLst xmlns:a="http://schemas.openxmlformats.org/drawingml/2006/main">
              <a:ext uri="{FF2B5EF4-FFF2-40B4-BE49-F238E27FC236}">
                <a16:creationId xmlns:a16="http://schemas.microsoft.com/office/drawing/2014/main" id="{59F6A654-6E4C-47CC-9C5A-A8FB4A4F97DC}"/>
              </a:ext>
            </a:extLst>
          </p:cNvPr>
          <p:cNvSpPr>
            <a:spLocks xmlns:a="http://schemas.openxmlformats.org/drawingml/2006/main" noGrp="1"/>
          </p:cNvSpPr>
          <p:nvPr/>
        </p:nvSpPr>
        <p:spPr>
          <a:xfrm xmlns:a="http://schemas.openxmlformats.org/drawingml/2006/main">
            <a:off x="685800" y="637222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4D606C"/>
                </a:solidFill>
                <a:latin typeface="Arial"/>
                <a:ea typeface="Arial"/>
                <a:cs typeface="Arial"/>
              </a:defRPr>
            </a:defPPr>
            <a:lvl1pPr>
              <a:buNone/>
              <a:defRPr sz="1800" b="0">
                <a:solidFill>
                  <a:srgbClr val="4D606C"/>
                </a:solidFill>
                <a:latin typeface="Arial"/>
                <a:ea typeface="Arial"/>
                <a:cs typeface="Arial"/>
              </a:defRPr>
            </a:lvl1pPr>
            <a:lvl2pPr>
              <a:buNone/>
              <a:defRPr sz="1800" b="0">
                <a:solidFill>
                  <a:srgbClr val="4D606C"/>
                </a:solidFill>
                <a:latin typeface="Arial"/>
                <a:ea typeface="Arial"/>
                <a:cs typeface="Arial"/>
              </a:defRPr>
            </a:lvl2pPr>
            <a:lvl3pPr>
              <a:buNone/>
              <a:defRPr sz="1800" b="0">
                <a:solidFill>
                  <a:srgbClr val="4D606C"/>
                </a:solidFill>
                <a:latin typeface="Arial"/>
                <a:ea typeface="Arial"/>
                <a:cs typeface="Arial"/>
              </a:defRPr>
            </a:lvl3pPr>
            <a:lvl4pPr>
              <a:buNone/>
              <a:defRPr sz="1800" b="0">
                <a:solidFill>
                  <a:srgbClr val="4D606C"/>
                </a:solidFill>
                <a:latin typeface="Arial"/>
                <a:ea typeface="Arial"/>
                <a:cs typeface="Arial"/>
              </a:defRPr>
            </a:lvl4pPr>
            <a:lvl5pPr>
              <a:buNone/>
              <a:defRPr sz="1800" b="0">
                <a:solidFill>
                  <a:srgbClr val="4D606C"/>
                </a:solidFill>
                <a:latin typeface="Arial"/>
                <a:ea typeface="Arial"/>
                <a:cs typeface="Arial"/>
              </a:defRPr>
            </a:lvl5pPr>
            <a:lvl6pPr>
              <a:buNone/>
              <a:defRPr sz="1800" b="0">
                <a:solidFill>
                  <a:srgbClr val="4D606C"/>
                </a:solidFill>
                <a:latin typeface="Arial"/>
                <a:ea typeface="Arial"/>
                <a:cs typeface="Arial"/>
              </a:defRPr>
            </a:lvl6pPr>
            <a:lvl7pPr>
              <a:buNone/>
              <a:defRPr sz="1800" b="0">
                <a:solidFill>
                  <a:srgbClr val="4D606C"/>
                </a:solidFill>
                <a:latin typeface="Arial"/>
                <a:ea typeface="Arial"/>
                <a:cs typeface="Arial"/>
              </a:defRPr>
            </a:lvl7pPr>
            <a:lvl8pPr>
              <a:buNone/>
              <a:defRPr sz="1800" b="0">
                <a:solidFill>
                  <a:srgbClr val="4D606C"/>
                </a:solidFill>
                <a:latin typeface="Arial"/>
                <a:ea typeface="Arial"/>
                <a:cs typeface="Arial"/>
              </a:defRPr>
            </a:lvl8pPr>
            <a:lvl9pPr>
              <a:buNone/>
              <a:defRPr sz="1800" b="0">
                <a:solidFill>
                  <a:srgbClr val="4D606C"/>
                </a:solidFill>
                <a:latin typeface="Arial"/>
                <a:ea typeface="Arial"/>
                <a:cs typeface="Arial"/>
              </a:defRPr>
            </a:lvl9pPr>
          </a:lstStyle>
          <a:p xmlns:a="http://schemas.openxmlformats.org/drawingml/2006/main">
            <a:pPr>
              <a:buNone/>
              <a:defRPr sz="1800" b="0">
                <a:solidFill>
                  <a:srgbClr val="4D606C"/>
                </a:solidFill>
                <a:latin typeface="Arial"/>
                <a:ea typeface="Arial"/>
                <a:cs typeface="Arial"/>
              </a:defRPr>
            </a:pPr>
            <a:r>
              <a:rPr sz="1800" b="0">
                <a:solidFill>
                  <a:srgbClr val="4D606C"/>
                </a:solidFill>
                <a:latin typeface="Arial"/>
                <a:ea typeface="Arial"/>
                <a:cs typeface="Arial"/>
              </a:rPr>
              <a:t>Human labels / automatic answer judging     11/12</a:t>
            </a:r>
          </a:p>
        </p:txBody>
      </p:sp>
      <p:graphicFrame>
        <p:nvGraphicFramePr>
          <p:cNvPr id="3" name="">
            <a:extLst xmlns:a="http://schemas.openxmlformats.org/drawingml/2006/main">
              <a:ext uri="{FF2B5EF4-FFF2-40B4-BE49-F238E27FC236}">
                <a16:creationId xmlns:a16="http://schemas.microsoft.com/office/drawing/2014/main" id="{38A850AD-0E65-4A02-95BD-AC411192FBB0}"/>
              </a:ext>
            </a:extLst>
          </p:cNvPr>
          <p:cNvGraphicFramePr/>
          <p:nvPr/>
        </p:nvGraphicFramePr>
        <p:xfrm>
          <a:off xmlns:a="http://schemas.openxmlformats.org/drawingml/2006/main" x="685800" y="1676400"/>
          <a:ext xmlns:a="http://schemas.openxmlformats.org/drawingml/2006/main" cx="10820400" cy="4171950"/>
        </p:xfrm>
        <a:graphic xmlns:a="http://schemas.openxmlformats.org/drawingml/2006/main">
          <a:graphicData uri="http://schemas.openxmlformats.org/drawingml/2006/table">
            <a:tbl>
              <a:tblPr firstRow="1" bandRow="0"/>
              <a:tblGrid>
                <a:gridCol w="2286000"/>
                <a:gridCol w="5143500"/>
                <a:gridCol w="3390900"/>
              </a:tblGrid>
              <a:tr h="834390">
                <a:tc>
                  <a:txBody>
                    <a:bodyPr/>
                    <a:lstStyle/>
                    <a:p>
                      <a:r>
                        <a:rPr sz="1875" b="1">
                          <a:solidFill>
                            <a:srgbClr val="184E6A"/>
                          </a:solidFill>
                          <a:latin typeface="Arial"/>
                          <a:ea typeface="Arial"/>
                          <a:cs typeface="Arial"/>
                        </a:rPr>
                        <a:t>Case</a:t>
                      </a:r>
                    </a:p>
                  </a:txBody>
                  <a:tcPr marL="114300" marR="114300" marT="38100" marB="38100"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1875" b="1">
                          <a:solidFill>
                            <a:srgbClr val="184E6A"/>
                          </a:solidFill>
                          <a:latin typeface="Arial"/>
                          <a:ea typeface="Arial"/>
                          <a:cs typeface="Arial"/>
                        </a:rPr>
                        <a:t>Observed issue or tested risk</a:t>
                      </a:r>
                    </a:p>
                  </a:txBody>
                  <a:tcPr marL="114300" marR="114300" marT="38100" marB="381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c>
                  <a:txBody>
                    <a:bodyPr/>
                    <a:lstStyle/>
                    <a:p>
                      <a:r>
                        <a:rPr sz="1875" b="1">
                          <a:solidFill>
                            <a:srgbClr val="184E6A"/>
                          </a:solidFill>
                          <a:latin typeface="Arial"/>
                          <a:ea typeface="Arial"/>
                          <a:cs typeface="Arial"/>
                        </a:rPr>
                        <a:t>Current response</a:t>
                      </a:r>
                    </a:p>
                  </a:txBody>
                  <a:tcPr marL="114300" marR="114300" marT="38100" marB="38100" anchor="ctr">
                    <a:lnR w="9525">
                      <a:solidFill>
                        <a:srgbClr val="CFD9DF"/>
                      </a:solidFill>
                      <a:prstDash val="solid"/>
                    </a:lnR>
                    <a:lnT w="9525">
                      <a:solidFill>
                        <a:srgbClr val="CFD9DF"/>
                      </a:solidFill>
                      <a:prstDash val="solid"/>
                    </a:lnT>
                    <a:lnB w="9525">
                      <a:solidFill>
                        <a:srgbClr val="CFD9DF"/>
                      </a:solidFill>
                      <a:prstDash val="solid"/>
                    </a:lnB>
                    <a:solidFill>
                      <a:srgbClr val="FFFFFF"/>
                    </a:solidFill>
                  </a:tcPr>
                </a:tc>
              </a:tr>
              <a:tr h="834390">
                <a:tc>
                  <a:txBody>
                    <a:bodyPr/>
                    <a:lstStyle/>
                    <a:p>
                      <a:r>
                        <a:rPr sz="1875">
                          <a:solidFill>
                            <a:srgbClr val="172C3B"/>
                          </a:solidFill>
                          <a:latin typeface="Arial"/>
                          <a:ea typeface="Arial"/>
                          <a:cs typeface="Arial"/>
                        </a:rPr>
                        <a:t>Future evidence</a:t>
                      </a:r>
                    </a:p>
                  </a:txBody>
                  <a:tcPr marL="114300" marR="114300" marT="38100" marB="381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1875">
                          <a:solidFill>
                            <a:srgbClr val="172C3B"/>
                          </a:solidFill>
                          <a:latin typeface="Arial"/>
                          <a:ea typeface="Arial"/>
                          <a:cs typeface="Arial"/>
                        </a:rPr>
                        <a:t>166 future hits in the formal base</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75">
                          <a:solidFill>
                            <a:srgbClr val="172C3B"/>
                          </a:solidFill>
                          <a:latin typeface="Arial"/>
                          <a:ea typeface="Arial"/>
                          <a:cs typeface="Arial"/>
                        </a:rPr>
                        <a:t>A filters availability</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r>
              <a:tr h="834390">
                <a:tc>
                  <a:txBody>
                    <a:bodyPr/>
                    <a:lstStyle/>
                    <a:p>
                      <a:r>
                        <a:rPr sz="1875">
                          <a:solidFill>
                            <a:srgbClr val="172C3B"/>
                          </a:solidFill>
                          <a:latin typeface="Arial"/>
                          <a:ea typeface="Arial"/>
                          <a:cs typeface="Arial"/>
                        </a:rPr>
                        <a:t>Enumeration</a:t>
                      </a:r>
                    </a:p>
                  </a:txBody>
                  <a:tcPr marL="114300" marR="114300" marT="38100" marB="381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1875">
                          <a:solidFill>
                            <a:srgbClr val="172C3B"/>
                          </a:solidFill>
                          <a:latin typeface="Arial"/>
                          <a:ea typeface="Arial"/>
                          <a:cs typeface="Arial"/>
                        </a:rPr>
                        <a:t>All six answers flatten a source list; B retains it</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75">
                          <a:solidFill>
                            <a:srgbClr val="172C3B"/>
                          </a:solidFill>
                          <a:latin typeface="Arial"/>
                          <a:ea typeface="Arial"/>
                          <a:cs typeface="Arial"/>
                        </a:rPr>
                        <a:t>Source and reference can disagree</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r>
              <a:tr h="834390">
                <a:tc>
                  <a:txBody>
                    <a:bodyPr/>
                    <a:lstStyle/>
                    <a:p>
                      <a:r>
                        <a:rPr sz="1875">
                          <a:solidFill>
                            <a:srgbClr val="172C3B"/>
                          </a:solidFill>
                          <a:latin typeface="Arial"/>
                          <a:ea typeface="Arial"/>
                          <a:cs typeface="Arial"/>
                        </a:rPr>
                        <a:t>Cutoff-day update</a:t>
                      </a:r>
                    </a:p>
                  </a:txBody>
                  <a:tcPr marL="114300" marR="114300" marT="38100" marB="381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1875">
                          <a:solidFill>
                            <a:srgbClr val="172C3B"/>
                          </a:solidFill>
                          <a:latin typeface="Arial"/>
                          <a:ea typeface="Arial"/>
                          <a:cs typeface="Arial"/>
                        </a:rPr>
                        <a:t>Top five miss seven observed vs nine forecast starts</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75">
                          <a:solidFill>
                            <a:srgbClr val="172C3B"/>
                          </a:solidFill>
                          <a:latin typeface="Arial"/>
                          <a:ea typeface="Arial"/>
                          <a:cs typeface="Arial"/>
                        </a:rPr>
                        <a:t>A still misses this update</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r>
              <a:tr h="834390">
                <a:tc>
                  <a:txBody>
                    <a:bodyPr/>
                    <a:lstStyle/>
                    <a:p>
                      <a:r>
                        <a:rPr sz="1875">
                          <a:solidFill>
                            <a:srgbClr val="172C3B"/>
                          </a:solidFill>
                          <a:latin typeface="Arial"/>
                          <a:ea typeface="Arial"/>
                          <a:cs typeface="Arial"/>
                        </a:rPr>
                        <a:t>Dated original</a:t>
                      </a:r>
                    </a:p>
                  </a:txBody>
                  <a:tcPr marL="114300" marR="114300" marT="38100" marB="38100" anchor="ctr">
                    <a:lnL w="9525">
                      <a:solidFill>
                        <a:srgbClr val="CFD9DF"/>
                      </a:solidFill>
                      <a:prstDash val="solid"/>
                    </a:lnL>
                    <a:lnR w="9525">
                      <a:solidFill>
                        <a:srgbClr val="CFD9DF"/>
                      </a:solidFill>
                      <a:prstDash val="solid"/>
                    </a:lnR>
                    <a:lnB w="9525">
                      <a:solidFill>
                        <a:srgbClr val="CFD9DF"/>
                      </a:solidFill>
                      <a:prstDash val="solid"/>
                    </a:lnB>
                    <a:solidFill>
                      <a:srgbClr val="FFFFFF"/>
                    </a:solidFill>
                  </a:tcPr>
                </a:tc>
                <a:tc>
                  <a:txBody>
                    <a:bodyPr/>
                    <a:lstStyle/>
                    <a:p>
                      <a:r>
                        <a:rPr sz="1875">
                          <a:solidFill>
                            <a:srgbClr val="172C3B"/>
                          </a:solidFill>
                          <a:latin typeface="Arial"/>
                          <a:ea typeface="Arial"/>
                          <a:cs typeface="Arial"/>
                        </a:rPr>
                        <a:t>Dense finds later republication, misses eligible original</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c>
                  <a:txBody>
                    <a:bodyPr/>
                    <a:lstStyle/>
                    <a:p>
                      <a:r>
                        <a:rPr sz="1875">
                          <a:solidFill>
                            <a:srgbClr val="172C3B"/>
                          </a:solidFill>
                          <a:latin typeface="Arial"/>
                          <a:ea typeface="Arial"/>
                          <a:cs typeface="Arial"/>
                        </a:rPr>
                        <a:t>Top-five absence is not absence</a:t>
                      </a:r>
                    </a:p>
                  </a:txBody>
                  <a:tcPr marL="114300" marR="114300" marT="38100" marB="38100" anchor="ctr">
                    <a:lnR w="9525">
                      <a:solidFill>
                        <a:srgbClr val="CFD9DF"/>
                      </a:solidFill>
                      <a:prstDash val="solid"/>
                    </a:lnR>
                    <a:lnB w="9525">
                      <a:solidFill>
                        <a:srgbClr val="CFD9D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9C18873-BA27-42A8-B857-41F4793F6858}"/>
              </a:ext>
            </a:extLst>
          </p:cNvPr>
          <p:cNvSpPr>
            <a:spLocks xmlns:a="http://schemas.openxmlformats.org/drawingml/2006/main" noGrp="1"/>
          </p:cNvSpPr>
          <p:nvPr/>
        </p:nvSpPr>
        <p:spPr>
          <a:xfrm xmlns:a="http://schemas.openxmlformats.org/drawingml/2006/main">
            <a:off x="685800" y="5943600"/>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4D606C"/>
                </a:solidFill>
                <a:latin typeface="Arial"/>
                <a:ea typeface="Arial"/>
                <a:cs typeface="Arial"/>
              </a:defRPr>
            </a:defPPr>
            <a:lvl1pPr>
              <a:buNone/>
              <a:defRPr sz="1800" b="0">
                <a:solidFill>
                  <a:srgbClr val="4D606C"/>
                </a:solidFill>
                <a:latin typeface="Arial"/>
                <a:ea typeface="Arial"/>
                <a:cs typeface="Arial"/>
              </a:defRPr>
            </a:lvl1pPr>
            <a:lvl2pPr>
              <a:buNone/>
              <a:defRPr sz="1800" b="0">
                <a:solidFill>
                  <a:srgbClr val="4D606C"/>
                </a:solidFill>
                <a:latin typeface="Arial"/>
                <a:ea typeface="Arial"/>
                <a:cs typeface="Arial"/>
              </a:defRPr>
            </a:lvl2pPr>
            <a:lvl3pPr>
              <a:buNone/>
              <a:defRPr sz="1800" b="0">
                <a:solidFill>
                  <a:srgbClr val="4D606C"/>
                </a:solidFill>
                <a:latin typeface="Arial"/>
                <a:ea typeface="Arial"/>
                <a:cs typeface="Arial"/>
              </a:defRPr>
            </a:lvl3pPr>
            <a:lvl4pPr>
              <a:buNone/>
              <a:defRPr sz="1800" b="0">
                <a:solidFill>
                  <a:srgbClr val="4D606C"/>
                </a:solidFill>
                <a:latin typeface="Arial"/>
                <a:ea typeface="Arial"/>
                <a:cs typeface="Arial"/>
              </a:defRPr>
            </a:lvl4pPr>
            <a:lvl5pPr>
              <a:buNone/>
              <a:defRPr sz="1800" b="0">
                <a:solidFill>
                  <a:srgbClr val="4D606C"/>
                </a:solidFill>
                <a:latin typeface="Arial"/>
                <a:ea typeface="Arial"/>
                <a:cs typeface="Arial"/>
              </a:defRPr>
            </a:lvl5pPr>
            <a:lvl6pPr>
              <a:buNone/>
              <a:defRPr sz="1800" b="0">
                <a:solidFill>
                  <a:srgbClr val="4D606C"/>
                </a:solidFill>
                <a:latin typeface="Arial"/>
                <a:ea typeface="Arial"/>
                <a:cs typeface="Arial"/>
              </a:defRPr>
            </a:lvl6pPr>
            <a:lvl7pPr>
              <a:buNone/>
              <a:defRPr sz="1800" b="0">
                <a:solidFill>
                  <a:srgbClr val="4D606C"/>
                </a:solidFill>
                <a:latin typeface="Arial"/>
                <a:ea typeface="Arial"/>
                <a:cs typeface="Arial"/>
              </a:defRPr>
            </a:lvl7pPr>
            <a:lvl8pPr>
              <a:buNone/>
              <a:defRPr sz="1800" b="0">
                <a:solidFill>
                  <a:srgbClr val="4D606C"/>
                </a:solidFill>
                <a:latin typeface="Arial"/>
                <a:ea typeface="Arial"/>
                <a:cs typeface="Arial"/>
              </a:defRPr>
            </a:lvl8pPr>
            <a:lvl9pPr>
              <a:buNone/>
              <a:defRPr sz="1800" b="0">
                <a:solidFill>
                  <a:srgbClr val="4D606C"/>
                </a:solidFill>
                <a:latin typeface="Arial"/>
                <a:ea typeface="Arial"/>
                <a:cs typeface="Arial"/>
              </a:defRPr>
            </a:lvl9pPr>
          </a:lstStyle>
          <a:p xmlns:a="http://schemas.openxmlformats.org/drawingml/2006/main">
            <a:pPr>
              <a:buNone/>
              <a:defRPr sz="1800" b="0">
                <a:solidFill>
                  <a:srgbClr val="4D606C"/>
                </a:solidFill>
                <a:latin typeface="Arial"/>
                <a:ea typeface="Arial"/>
                <a:cs typeface="Arial"/>
              </a:defRPr>
            </a:pPr>
            <a:r>
              <a:rPr sz="1800" b="0">
                <a:solidFill>
                  <a:srgbClr val="4D606C"/>
                </a:solidFill>
                <a:latin typeface="Arial"/>
                <a:ea typeface="Arial"/>
                <a:cs typeface="Arial"/>
              </a:rPr>
              <a:t>Automatic judges assess semantic support. Human calibration remains unmeasured.</a:t>
            </a:r>
          </a:p>
        </p:txBody>
      </p:sp>
    </p:spTree>
    <p:extLst>
      <p:ext uri="{BB962C8B-B14F-4D97-AF65-F5344CB8AC3E}">
        <p14:creationId xmlns:p14="http://schemas.microsoft.com/office/powerpoint/2010/main" val="1903506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7EBAFC6-AB30-488D-9222-AD502404E9A4}"/>
              </a:ext>
            </a:extLst>
          </p:cNvPr>
          <p:cNvSpPr>
            <a:spLocks xmlns:a="http://schemas.openxmlformats.org/drawingml/2006/main" noGrp="1"/>
          </p:cNvSpPr>
          <p:nvPr/>
        </p:nvSpPr>
        <p:spPr>
          <a:xfrm xmlns:a="http://schemas.openxmlformats.org/drawingml/2006/main">
            <a:off x="685800" y="49530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2C3B"/>
                </a:solidFill>
                <a:latin typeface="Arial"/>
                <a:ea typeface="Arial"/>
                <a:cs typeface="Arial"/>
              </a:defRPr>
            </a:defPPr>
            <a:lvl1pPr>
              <a:buNone/>
              <a:defRPr sz="3300" b="1">
                <a:solidFill>
                  <a:srgbClr val="172C3B"/>
                </a:solidFill>
                <a:latin typeface="Arial"/>
                <a:ea typeface="Arial"/>
                <a:cs typeface="Arial"/>
              </a:defRPr>
            </a:lvl1pPr>
            <a:lvl2pPr>
              <a:buNone/>
              <a:defRPr sz="3300" b="1">
                <a:solidFill>
                  <a:srgbClr val="172C3B"/>
                </a:solidFill>
                <a:latin typeface="Arial"/>
                <a:ea typeface="Arial"/>
                <a:cs typeface="Arial"/>
              </a:defRPr>
            </a:lvl2pPr>
            <a:lvl3pPr>
              <a:buNone/>
              <a:defRPr sz="3300" b="1">
                <a:solidFill>
                  <a:srgbClr val="172C3B"/>
                </a:solidFill>
                <a:latin typeface="Arial"/>
                <a:ea typeface="Arial"/>
                <a:cs typeface="Arial"/>
              </a:defRPr>
            </a:lvl3pPr>
            <a:lvl4pPr>
              <a:buNone/>
              <a:defRPr sz="3300" b="1">
                <a:solidFill>
                  <a:srgbClr val="172C3B"/>
                </a:solidFill>
                <a:latin typeface="Arial"/>
                <a:ea typeface="Arial"/>
                <a:cs typeface="Arial"/>
              </a:defRPr>
            </a:lvl4pPr>
            <a:lvl5pPr>
              <a:buNone/>
              <a:defRPr sz="3300" b="1">
                <a:solidFill>
                  <a:srgbClr val="172C3B"/>
                </a:solidFill>
                <a:latin typeface="Arial"/>
                <a:ea typeface="Arial"/>
                <a:cs typeface="Arial"/>
              </a:defRPr>
            </a:lvl5pPr>
            <a:lvl6pPr>
              <a:buNone/>
              <a:defRPr sz="3300" b="1">
                <a:solidFill>
                  <a:srgbClr val="172C3B"/>
                </a:solidFill>
                <a:latin typeface="Arial"/>
                <a:ea typeface="Arial"/>
                <a:cs typeface="Arial"/>
              </a:defRPr>
            </a:lvl6pPr>
            <a:lvl7pPr>
              <a:buNone/>
              <a:defRPr sz="3300" b="1">
                <a:solidFill>
                  <a:srgbClr val="172C3B"/>
                </a:solidFill>
                <a:latin typeface="Arial"/>
                <a:ea typeface="Arial"/>
                <a:cs typeface="Arial"/>
              </a:defRPr>
            </a:lvl7pPr>
            <a:lvl8pPr>
              <a:buNone/>
              <a:defRPr sz="3300" b="1">
                <a:solidFill>
                  <a:srgbClr val="172C3B"/>
                </a:solidFill>
                <a:latin typeface="Arial"/>
                <a:ea typeface="Arial"/>
                <a:cs typeface="Arial"/>
              </a:defRPr>
            </a:lvl8pPr>
            <a:lvl9pPr>
              <a:buNone/>
              <a:defRPr sz="3300" b="1">
                <a:solidFill>
                  <a:srgbClr val="172C3B"/>
                </a:solidFill>
                <a:latin typeface="Arial"/>
                <a:ea typeface="Arial"/>
                <a:cs typeface="Arial"/>
              </a:defRPr>
            </a:lvl9pPr>
          </a:lstStyle>
          <a:p xmlns:a="http://schemas.openxmlformats.org/drawingml/2006/main">
            <a:pPr>
              <a:buNone/>
              <a:defRPr sz="3300" b="1">
                <a:solidFill>
                  <a:srgbClr val="172C3B"/>
                </a:solidFill>
                <a:latin typeface="Arial"/>
                <a:ea typeface="Arial"/>
                <a:cs typeface="Arial"/>
              </a:defRPr>
            </a:pPr>
            <a:r>
              <a:rPr sz="3300" b="1">
                <a:solidFill>
                  <a:srgbClr val="172C3B"/>
                </a:solidFill>
                <a:latin typeface="Arial"/>
                <a:ea typeface="Arial"/>
                <a:cs typeface="Arial"/>
              </a:rPr>
              <a:t>Evaluation coverage and limitations</a:t>
            </a:r>
          </a:p>
        </p:txBody>
      </p:sp>
      <p:sp>
        <p:nvSpPr>
          <p:cNvPr id="2" name="">
            <a:extLst xmlns:a="http://schemas.openxmlformats.org/drawingml/2006/main">
              <a:ext uri="{FF2B5EF4-FFF2-40B4-BE49-F238E27FC236}">
                <a16:creationId xmlns:a16="http://schemas.microsoft.com/office/drawing/2014/main" id="{4EF143AF-171A-4DEC-BED4-76475B1D0100}"/>
              </a:ext>
            </a:extLst>
          </p:cNvPr>
          <p:cNvSpPr>
            <a:spLocks xmlns:a="http://schemas.openxmlformats.org/drawingml/2006/main" noGrp="1"/>
          </p:cNvSpPr>
          <p:nvPr/>
        </p:nvSpPr>
        <p:spPr>
          <a:xfrm xmlns:a="http://schemas.openxmlformats.org/drawingml/2006/main">
            <a:off x="685800" y="637222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4D606C"/>
                </a:solidFill>
                <a:latin typeface="Arial"/>
                <a:ea typeface="Arial"/>
                <a:cs typeface="Arial"/>
              </a:defRPr>
            </a:defPPr>
            <a:lvl1pPr>
              <a:buNone/>
              <a:defRPr sz="1800" b="0">
                <a:solidFill>
                  <a:srgbClr val="4D606C"/>
                </a:solidFill>
                <a:latin typeface="Arial"/>
                <a:ea typeface="Arial"/>
                <a:cs typeface="Arial"/>
              </a:defRPr>
            </a:lvl1pPr>
            <a:lvl2pPr>
              <a:buNone/>
              <a:defRPr sz="1800" b="0">
                <a:solidFill>
                  <a:srgbClr val="4D606C"/>
                </a:solidFill>
                <a:latin typeface="Arial"/>
                <a:ea typeface="Arial"/>
                <a:cs typeface="Arial"/>
              </a:defRPr>
            </a:lvl2pPr>
            <a:lvl3pPr>
              <a:buNone/>
              <a:defRPr sz="1800" b="0">
                <a:solidFill>
                  <a:srgbClr val="4D606C"/>
                </a:solidFill>
                <a:latin typeface="Arial"/>
                <a:ea typeface="Arial"/>
                <a:cs typeface="Arial"/>
              </a:defRPr>
            </a:lvl3pPr>
            <a:lvl4pPr>
              <a:buNone/>
              <a:defRPr sz="1800" b="0">
                <a:solidFill>
                  <a:srgbClr val="4D606C"/>
                </a:solidFill>
                <a:latin typeface="Arial"/>
                <a:ea typeface="Arial"/>
                <a:cs typeface="Arial"/>
              </a:defRPr>
            </a:lvl4pPr>
            <a:lvl5pPr>
              <a:buNone/>
              <a:defRPr sz="1800" b="0">
                <a:solidFill>
                  <a:srgbClr val="4D606C"/>
                </a:solidFill>
                <a:latin typeface="Arial"/>
                <a:ea typeface="Arial"/>
                <a:cs typeface="Arial"/>
              </a:defRPr>
            </a:lvl5pPr>
            <a:lvl6pPr>
              <a:buNone/>
              <a:defRPr sz="1800" b="0">
                <a:solidFill>
                  <a:srgbClr val="4D606C"/>
                </a:solidFill>
                <a:latin typeface="Arial"/>
                <a:ea typeface="Arial"/>
                <a:cs typeface="Arial"/>
              </a:defRPr>
            </a:lvl6pPr>
            <a:lvl7pPr>
              <a:buNone/>
              <a:defRPr sz="1800" b="0">
                <a:solidFill>
                  <a:srgbClr val="4D606C"/>
                </a:solidFill>
                <a:latin typeface="Arial"/>
                <a:ea typeface="Arial"/>
                <a:cs typeface="Arial"/>
              </a:defRPr>
            </a:lvl7pPr>
            <a:lvl8pPr>
              <a:buNone/>
              <a:defRPr sz="1800" b="0">
                <a:solidFill>
                  <a:srgbClr val="4D606C"/>
                </a:solidFill>
                <a:latin typeface="Arial"/>
                <a:ea typeface="Arial"/>
                <a:cs typeface="Arial"/>
              </a:defRPr>
            </a:lvl8pPr>
            <a:lvl9pPr>
              <a:buNone/>
              <a:defRPr sz="1800" b="0">
                <a:solidFill>
                  <a:srgbClr val="4D606C"/>
                </a:solidFill>
                <a:latin typeface="Arial"/>
                <a:ea typeface="Arial"/>
                <a:cs typeface="Arial"/>
              </a:defRPr>
            </a:lvl9pPr>
          </a:lstStyle>
          <a:p xmlns:a="http://schemas.openxmlformats.org/drawingml/2006/main">
            <a:pPr>
              <a:buNone/>
              <a:defRPr sz="1800" b="0">
                <a:solidFill>
                  <a:srgbClr val="4D606C"/>
                </a:solidFill>
                <a:latin typeface="Arial"/>
                <a:ea typeface="Arial"/>
                <a:cs typeface="Arial"/>
              </a:defRPr>
            </a:pPr>
            <a:r>
              <a:rPr sz="1800" b="0">
                <a:solidFill>
                  <a:srgbClr val="4D606C"/>
                </a:solidFill>
                <a:latin typeface="Arial"/>
                <a:ea typeface="Arial"/>
                <a:cs typeface="Arial"/>
              </a:rPr>
              <a:t>Human labels / automatic answer judging     12/12</a:t>
            </a:r>
          </a:p>
        </p:txBody>
      </p:sp>
      <p:sp>
        <p:nvSpPr>
          <p:cNvPr id="3" name="">
            <a:extLst xmlns:a="http://schemas.openxmlformats.org/drawingml/2006/main">
              <a:ext uri="{FF2B5EF4-FFF2-40B4-BE49-F238E27FC236}">
                <a16:creationId xmlns:a16="http://schemas.microsoft.com/office/drawing/2014/main" id="{2262D9F6-46B1-4CFF-8534-472985137D62}"/>
              </a:ext>
            </a:extLst>
          </p:cNvPr>
          <p:cNvSpPr>
            <a:spLocks xmlns:a="http://schemas.openxmlformats.org/drawingml/2006/main" noGrp="1"/>
          </p:cNvSpPr>
          <p:nvPr/>
        </p:nvSpPr>
        <p:spPr>
          <a:xfrm xmlns:a="http://schemas.openxmlformats.org/drawingml/2006/main">
            <a:off x="685800" y="1752600"/>
            <a:ext cx="10820400" cy="443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172C3B"/>
                </a:solidFill>
                <a:latin typeface="Arial"/>
                <a:ea typeface="Arial"/>
                <a:cs typeface="Arial"/>
              </a:defRPr>
            </a:defPPr>
            <a:lvl1pPr>
              <a:buNone/>
              <a:defRPr sz="2025" b="0">
                <a:solidFill>
                  <a:srgbClr val="172C3B"/>
                </a:solidFill>
                <a:latin typeface="Arial"/>
                <a:ea typeface="Arial"/>
                <a:cs typeface="Arial"/>
              </a:defRPr>
            </a:lvl1pPr>
            <a:lvl2pPr>
              <a:buNone/>
              <a:defRPr sz="2025" b="0">
                <a:solidFill>
                  <a:srgbClr val="172C3B"/>
                </a:solidFill>
                <a:latin typeface="Arial"/>
                <a:ea typeface="Arial"/>
                <a:cs typeface="Arial"/>
              </a:defRPr>
            </a:lvl2pPr>
            <a:lvl3pPr>
              <a:buNone/>
              <a:defRPr sz="2025" b="0">
                <a:solidFill>
                  <a:srgbClr val="172C3B"/>
                </a:solidFill>
                <a:latin typeface="Arial"/>
                <a:ea typeface="Arial"/>
                <a:cs typeface="Arial"/>
              </a:defRPr>
            </a:lvl3pPr>
            <a:lvl4pPr>
              <a:buNone/>
              <a:defRPr sz="2025" b="0">
                <a:solidFill>
                  <a:srgbClr val="172C3B"/>
                </a:solidFill>
                <a:latin typeface="Arial"/>
                <a:ea typeface="Arial"/>
                <a:cs typeface="Arial"/>
              </a:defRPr>
            </a:lvl4pPr>
            <a:lvl5pPr>
              <a:buNone/>
              <a:defRPr sz="2025" b="0">
                <a:solidFill>
                  <a:srgbClr val="172C3B"/>
                </a:solidFill>
                <a:latin typeface="Arial"/>
                <a:ea typeface="Arial"/>
                <a:cs typeface="Arial"/>
              </a:defRPr>
            </a:lvl5pPr>
            <a:lvl6pPr>
              <a:buNone/>
              <a:defRPr sz="2025" b="0">
                <a:solidFill>
                  <a:srgbClr val="172C3B"/>
                </a:solidFill>
                <a:latin typeface="Arial"/>
                <a:ea typeface="Arial"/>
                <a:cs typeface="Arial"/>
              </a:defRPr>
            </a:lvl6pPr>
            <a:lvl7pPr>
              <a:buNone/>
              <a:defRPr sz="2025" b="0">
                <a:solidFill>
                  <a:srgbClr val="172C3B"/>
                </a:solidFill>
                <a:latin typeface="Arial"/>
                <a:ea typeface="Arial"/>
                <a:cs typeface="Arial"/>
              </a:defRPr>
            </a:lvl7pPr>
            <a:lvl8pPr>
              <a:buNone/>
              <a:defRPr sz="2025" b="0">
                <a:solidFill>
                  <a:srgbClr val="172C3B"/>
                </a:solidFill>
                <a:latin typeface="Arial"/>
                <a:ea typeface="Arial"/>
                <a:cs typeface="Arial"/>
              </a:defRPr>
            </a:lvl8pPr>
            <a:lvl9pPr>
              <a:buNone/>
              <a:defRPr sz="2025" b="0">
                <a:solidFill>
                  <a:srgbClr val="172C3B"/>
                </a:solidFill>
                <a:latin typeface="Arial"/>
                <a:ea typeface="Arial"/>
                <a:cs typeface="Arial"/>
              </a:defRPr>
            </a:lvl9pPr>
          </a:lstStyle>
          <a:p xmlns:a="http://schemas.openxmlformats.org/drawingml/2006/main">
            <a:pPr marL="254000" indent="-127000">
              <a:spcAft>
                <a:spcPts val="1800"/>
              </a:spcAft>
              <a:buChar char="•"/>
              <a:defRPr sz="2025" b="0">
                <a:solidFill>
                  <a:srgbClr val="172C3B"/>
                </a:solidFill>
                <a:latin typeface="Arial"/>
                <a:ea typeface="Arial"/>
                <a:cs typeface="Arial"/>
              </a:defRPr>
            </a:pPr>
            <a:r>
              <a:rPr sz="2025">
                <a:solidFill>
                  <a:srgbClr val="172C3B"/>
                </a:solidFill>
                <a:latin typeface="Arial"/>
                <a:ea typeface="Arial"/>
                <a:cs typeface="Arial"/>
              </a:rPr>
              <a:t>Human-annotated dataset: 1,000 TEST questions; two independent human annotators.</a:t>
            </a:r>
          </a:p>
          <a:p xmlns:a="http://schemas.openxmlformats.org/drawingml/2006/main">
            <a:pPr marL="254000" indent="-127000">
              <a:spcAft>
                <a:spcPts val="1800"/>
              </a:spcAft>
              <a:buChar char="•"/>
              <a:defRPr sz="2025" b="0">
                <a:solidFill>
                  <a:srgbClr val="172C3B"/>
                </a:solidFill>
                <a:latin typeface="Arial"/>
                <a:ea typeface="Arial"/>
                <a:cs typeface="Arial"/>
              </a:defRPr>
            </a:pPr>
            <a:r>
              <a:rPr sz="2025" b="0">
                <a:solidFill>
                  <a:srgbClr val="172C3B"/>
                </a:solidFill>
                <a:latin typeface="Arial"/>
                <a:ea typeface="Arial"/>
                <a:cs typeface="Arial"/>
              </a:rPr>
              <a:t>Complete retrieval: all 1,000 TEST questions across six conditions. Hybrid cutoff filtering removes all ineligible hits.</a:t>
            </a:r>
          </a:p>
          <a:p xmlns:a="http://schemas.openxmlformats.org/drawingml/2006/main">
            <a:pPr marL="254000" indent="-127000">
              <a:spcAft>
                <a:spcPts val="1800"/>
              </a:spcAft>
              <a:buChar char="•"/>
              <a:defRPr sz="2025" b="0">
                <a:solidFill>
                  <a:srgbClr val="172C3B"/>
                </a:solidFill>
                <a:latin typeface="Arial"/>
                <a:ea typeface="Arial"/>
                <a:cs typeface="Arial"/>
              </a:defRPr>
            </a:pPr>
            <a:r>
              <a:rPr sz="2025" b="0">
                <a:solidFill>
                  <a:srgbClr val="172C3B"/>
                </a:solidFill>
                <a:latin typeface="Arial"/>
                <a:ea typeface="Arial"/>
                <a:cs typeface="Arial"/>
              </a:rPr>
              <a:t>Fixed answer sample: 100 TEST questions, seed 6127, selected before TEST labeling. All six variants use the same sample.</a:t>
            </a:r>
          </a:p>
          <a:p xmlns:a="http://schemas.openxmlformats.org/drawingml/2006/main">
            <a:pPr marL="254000" indent="-127000">
              <a:spcAft>
                <a:spcPts val="1800"/>
              </a:spcAft>
              <a:buChar char="•"/>
              <a:defRPr sz="2025" b="0">
                <a:solidFill>
                  <a:srgbClr val="172C3B"/>
                </a:solidFill>
                <a:latin typeface="Arial"/>
                <a:ea typeface="Arial"/>
                <a:cs typeface="Arial"/>
              </a:defRPr>
            </a:pPr>
            <a:r>
              <a:rPr sz="2025" b="0">
                <a:solidFill>
                  <a:srgbClr val="172C3B"/>
                </a:solidFill>
                <a:latin typeface="Arial"/>
                <a:ea typeface="Arial"/>
                <a:cs typeface="Arial"/>
              </a:rPr>
              <a:t>Complete answers: 100 questions and 600 variant outputs with automatic quality judgments. Answer results do not cover all 1,000 questions.</a:t>
            </a:r>
          </a:p>
          <a:p xmlns:a="http://schemas.openxmlformats.org/drawingml/2006/main">
            <a:pPr marL="254000" indent="-127000">
              <a:spcAft>
                <a:spcPts val="1800"/>
              </a:spcAft>
              <a:buChar char="•"/>
              <a:defRPr sz="2025" b="0">
                <a:solidFill>
                  <a:srgbClr val="172C3B"/>
                </a:solidFill>
                <a:latin typeface="Arial"/>
                <a:ea typeface="Arial"/>
                <a:cs typeface="Arial"/>
              </a:defRPr>
            </a:pPr>
            <a:r>
              <a:rPr sz="2025" b="0">
                <a:solidFill>
                  <a:srgbClr val="172C3B"/>
                </a:solidFill>
                <a:latin typeface="Arial"/>
                <a:ea typeface="Arial"/>
                <a:cs typeface="Arial"/>
              </a:rPr>
              <a:t>Two CLI binary lineages. Physical model identity is unknown. Human calibration remains unmeasured.</a:t>
            </a:r>
          </a:p>
        </p:txBody>
      </p:sp>
    </p:spTree>
    <p:extLst>
      <p:ext uri="{BB962C8B-B14F-4D97-AF65-F5344CB8AC3E}">
        <p14:creationId xmlns:p14="http://schemas.microsoft.com/office/powerpoint/2010/main" val="10331420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2026-10-19T11:05:14.0820000Z</dcterms:created>
  <dcterms:modified xsi:type="dcterms:W3CDTF">2026-10-19T11:05:14.0820000Z</dcterms:modified>
</coreProperties>
</file>